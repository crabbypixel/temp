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8288000" cy="10287000"/>
  <p:notesSz cx="6858000" cy="9144000"/>
  <p:embeddedFontLst>
    <p:embeddedFont>
      <p:font typeface="Calibri (MS)" panose="020B0604020202020204" charset="0"/>
      <p:regular r:id="rId19"/>
    </p:embeddedFont>
    <p:embeddedFont>
      <p:font typeface="Calibri (MS) Bold" panose="020B0604020202020204" charset="0"/>
      <p:regular r:id="rId20"/>
    </p:embeddedFont>
    <p:embeddedFont>
      <p:font typeface="Canva Sans" panose="020B060402020202020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3" d="100"/>
          <a:sy n="73" d="100"/>
        </p:scale>
        <p:origin x="594"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17.03.2026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6.png"/><Relationship Id="rId4"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13.png"/><Relationship Id="rId4"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sv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svg"/><Relationship Id="rId4" Type="http://schemas.openxmlformats.org/officeDocument/2006/relationships/image" Target="../media/image18.png"/><Relationship Id="rId9" Type="http://schemas.openxmlformats.org/officeDocument/2006/relationships/image" Target="../media/image23.svg"/></Relationships>
</file>

<file path=ppt/slides/_rels/slide1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hyperlink" Target="https://www.ansys.com/simulation-topics/what-is-advanced-driver-assistance-system-adas" TargetMode="External"/><Relationship Id="rId2" Type="http://schemas.openxmlformats.org/officeDocument/2006/relationships/hyperlink" Target="https://www.youtube.com/watch?v=EiWl5PAtfYA" TargetMode="External"/><Relationship Id="rId1" Type="http://schemas.openxmlformats.org/officeDocument/2006/relationships/slideLayout" Target="../slideLayouts/slideLayout7.xml"/><Relationship Id="rId6" Type="http://schemas.openxmlformats.org/officeDocument/2006/relationships/hyperlink" Target="https://www.bmw.in/en/all-models/7-series/7-series-sedan/bmw-7-series-sedan.html" TargetMode="External"/><Relationship Id="rId5" Type="http://schemas.openxmlformats.org/officeDocument/2006/relationships/hyperlink" Target="https://www.mercedes-benz.co.in/passengercars/models/saloon-long/s-class/overview.html" TargetMode="External"/><Relationship Id="rId4" Type="http://schemas.openxmlformats.org/officeDocument/2006/relationships/hyperlink" Target="https://en.wikipedia.org/wiki/Advanced_driver-assistance_system"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05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9F8F5"/>
            </a:solidFill>
          </p:spPr>
        </p:sp>
      </p:grpSp>
      <p:grpSp>
        <p:nvGrpSpPr>
          <p:cNvPr id="4" name="Group 4"/>
          <p:cNvGrpSpPr/>
          <p:nvPr/>
        </p:nvGrpSpPr>
        <p:grpSpPr>
          <a:xfrm>
            <a:off x="11042402" y="1214113"/>
            <a:ext cx="7245598" cy="8229600"/>
            <a:chOff x="0" y="0"/>
            <a:chExt cx="9660798" cy="10972800"/>
          </a:xfrm>
        </p:grpSpPr>
        <p:sp>
          <p:nvSpPr>
            <p:cNvPr id="5" name="Freeform 5"/>
            <p:cNvSpPr/>
            <p:nvPr/>
          </p:nvSpPr>
          <p:spPr>
            <a:xfrm>
              <a:off x="0" y="0"/>
              <a:ext cx="9660798" cy="10972800"/>
            </a:xfrm>
            <a:custGeom>
              <a:avLst/>
              <a:gdLst/>
              <a:ahLst/>
              <a:cxnLst/>
              <a:rect l="l" t="t" r="r" b="b"/>
              <a:pathLst>
                <a:path w="9660798" h="10972800">
                  <a:moveTo>
                    <a:pt x="0" y="0"/>
                  </a:moveTo>
                  <a:lnTo>
                    <a:pt x="9660798" y="0"/>
                  </a:lnTo>
                  <a:lnTo>
                    <a:pt x="9660798" y="10972800"/>
                  </a:lnTo>
                  <a:lnTo>
                    <a:pt x="0" y="10972800"/>
                  </a:lnTo>
                  <a:lnTo>
                    <a:pt x="0" y="0"/>
                  </a:lnTo>
                  <a:close/>
                </a:path>
              </a:pathLst>
            </a:custGeom>
            <a:blipFill>
              <a:blip r:embed="rId2"/>
              <a:stretch>
                <a:fillRect t="-6985" b="-6985"/>
              </a:stretch>
            </a:blipFill>
          </p:spPr>
        </p:sp>
      </p:grpSp>
      <p:sp>
        <p:nvSpPr>
          <p:cNvPr id="6" name="TextBox 6"/>
          <p:cNvSpPr txBox="1"/>
          <p:nvPr/>
        </p:nvSpPr>
        <p:spPr>
          <a:xfrm>
            <a:off x="1028700" y="442690"/>
            <a:ext cx="10013702" cy="1871596"/>
          </a:xfrm>
          <a:prstGeom prst="rect">
            <a:avLst/>
          </a:prstGeom>
        </p:spPr>
        <p:txBody>
          <a:bodyPr lIns="0" tIns="0" rIns="0" bIns="0" rtlCol="0" anchor="t">
            <a:spAutoFit/>
          </a:bodyPr>
          <a:lstStyle/>
          <a:p>
            <a:pPr algn="ctr">
              <a:lnSpc>
                <a:spcPts val="6937"/>
              </a:lnSpc>
            </a:pPr>
            <a:r>
              <a:rPr lang="en-US" sz="5562" b="1" dirty="0">
                <a:solidFill>
                  <a:srgbClr val="161613"/>
                </a:solidFill>
                <a:latin typeface="Calibri (MS) Bold"/>
                <a:ea typeface="Calibri (MS) Bold"/>
                <a:cs typeface="Calibri (MS) Bold"/>
                <a:sym typeface="Calibri (MS) Bold"/>
              </a:rPr>
              <a:t>Advanced Driver Assistance Systems (ADAS)</a:t>
            </a:r>
          </a:p>
        </p:txBody>
      </p:sp>
      <p:sp>
        <p:nvSpPr>
          <p:cNvPr id="7" name="TextBox 7"/>
          <p:cNvSpPr txBox="1"/>
          <p:nvPr/>
        </p:nvSpPr>
        <p:spPr>
          <a:xfrm>
            <a:off x="1015305" y="3379620"/>
            <a:ext cx="8988584" cy="1347186"/>
          </a:xfrm>
          <a:prstGeom prst="rect">
            <a:avLst/>
          </a:prstGeom>
        </p:spPr>
        <p:txBody>
          <a:bodyPr lIns="0" tIns="0" rIns="0" bIns="0" rtlCol="0" anchor="t">
            <a:spAutoFit/>
          </a:bodyPr>
          <a:lstStyle/>
          <a:p>
            <a:pPr algn="ctr">
              <a:lnSpc>
                <a:spcPts val="5066"/>
              </a:lnSpc>
            </a:pPr>
            <a:r>
              <a:rPr lang="en-US" sz="4062" b="1">
                <a:solidFill>
                  <a:srgbClr val="161613"/>
                </a:solidFill>
                <a:latin typeface="Calibri (MS) Bold"/>
                <a:ea typeface="Calibri (MS) Bold"/>
                <a:cs typeface="Calibri (MS) Bold"/>
                <a:sym typeface="Calibri (MS) Bold"/>
              </a:rPr>
              <a:t>A Presentation on ADAS - Principles, Working &amp; Applications</a:t>
            </a:r>
          </a:p>
        </p:txBody>
      </p:sp>
      <p:sp>
        <p:nvSpPr>
          <p:cNvPr id="8" name="TextBox 8"/>
          <p:cNvSpPr txBox="1"/>
          <p:nvPr/>
        </p:nvSpPr>
        <p:spPr>
          <a:xfrm>
            <a:off x="1028700" y="7922614"/>
            <a:ext cx="4138249" cy="1328609"/>
          </a:xfrm>
          <a:prstGeom prst="rect">
            <a:avLst/>
          </a:prstGeom>
        </p:spPr>
        <p:txBody>
          <a:bodyPr lIns="0" tIns="0" rIns="0" bIns="0" rtlCol="0" anchor="t">
            <a:spAutoFit/>
          </a:bodyPr>
          <a:lstStyle/>
          <a:p>
            <a:pPr algn="l">
              <a:lnSpc>
                <a:spcPts val="5018"/>
              </a:lnSpc>
            </a:pPr>
            <a:r>
              <a:rPr lang="en-US" sz="4024">
                <a:solidFill>
                  <a:srgbClr val="161613"/>
                </a:solidFill>
                <a:latin typeface="Calibri (MS)"/>
                <a:ea typeface="Calibri (MS)"/>
                <a:cs typeface="Calibri (MS)"/>
                <a:sym typeface="Calibri (MS)"/>
              </a:rPr>
              <a:t>By: Jaisurya Vetrivel</a:t>
            </a:r>
          </a:p>
          <a:p>
            <a:pPr algn="l">
              <a:lnSpc>
                <a:spcPts val="5019"/>
              </a:lnSpc>
            </a:pPr>
            <a:r>
              <a:rPr lang="en-US" sz="4024">
                <a:solidFill>
                  <a:srgbClr val="161613"/>
                </a:solidFill>
                <a:latin typeface="Calibri (MS)"/>
                <a:ea typeface="Calibri (MS)"/>
                <a:cs typeface="Calibri (MS)"/>
                <a:sym typeface="Calibri (MS)"/>
              </a:rPr>
              <a:t>2023-BEE-016</a:t>
            </a:r>
          </a:p>
        </p:txBody>
      </p:sp>
      <p:sp>
        <p:nvSpPr>
          <p:cNvPr id="9" name="TextBox 9"/>
          <p:cNvSpPr txBox="1"/>
          <p:nvPr/>
        </p:nvSpPr>
        <p:spPr>
          <a:xfrm>
            <a:off x="1028700" y="5332022"/>
            <a:ext cx="8115300" cy="1347235"/>
          </a:xfrm>
          <a:prstGeom prst="rect">
            <a:avLst/>
          </a:prstGeom>
        </p:spPr>
        <p:txBody>
          <a:bodyPr lIns="0" tIns="0" rIns="0" bIns="0" rtlCol="0" anchor="t">
            <a:spAutoFit/>
          </a:bodyPr>
          <a:lstStyle/>
          <a:p>
            <a:pPr algn="l">
              <a:lnSpc>
                <a:spcPts val="5065"/>
              </a:lnSpc>
            </a:pPr>
            <a:r>
              <a:rPr lang="en-US" sz="4062">
                <a:solidFill>
                  <a:srgbClr val="161613"/>
                </a:solidFill>
                <a:latin typeface="Calibri (MS)"/>
                <a:ea typeface="Calibri (MS)"/>
                <a:cs typeface="Calibri (MS)"/>
                <a:sym typeface="Calibri (MS)"/>
              </a:rPr>
              <a:t>Course: IoT &amp; Applications</a:t>
            </a:r>
          </a:p>
          <a:p>
            <a:pPr algn="l">
              <a:lnSpc>
                <a:spcPts val="5066"/>
              </a:lnSpc>
            </a:pPr>
            <a:r>
              <a:rPr lang="en-US" sz="4062">
                <a:solidFill>
                  <a:srgbClr val="161613"/>
                </a:solidFill>
                <a:latin typeface="Calibri (MS)"/>
                <a:ea typeface="Calibri (MS)"/>
                <a:cs typeface="Calibri (MS)"/>
                <a:sym typeface="Calibri (MS)"/>
              </a:rPr>
              <a:t>Instructor: Dr. Rakesh Chowdhury</a:t>
            </a:r>
          </a:p>
        </p:txBody>
      </p:sp>
      <p:sp>
        <p:nvSpPr>
          <p:cNvPr id="10" name="TextBox 10"/>
          <p:cNvSpPr txBox="1"/>
          <p:nvPr/>
        </p:nvSpPr>
        <p:spPr>
          <a:xfrm>
            <a:off x="17460227" y="9929350"/>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272728">
                    <a:alpha val="49804"/>
                  </a:srgbClr>
                </a:solidFill>
                <a:latin typeface="Canva Sans"/>
                <a:ea typeface="Canva Sans"/>
                <a:cs typeface="Canva Sans"/>
                <a:sym typeface="Canva Sans"/>
              </a:rPr>
              <a:t>Page 1</a:t>
            </a:r>
          </a:p>
        </p:txBody>
      </p:sp>
      <p:sp>
        <p:nvSpPr>
          <p:cNvPr id="11" name="TextBox 11"/>
          <p:cNvSpPr txBox="1"/>
          <p:nvPr/>
        </p:nvSpPr>
        <p:spPr>
          <a:xfrm>
            <a:off x="1618913" y="6631632"/>
            <a:ext cx="5967674" cy="359069"/>
          </a:xfrm>
          <a:prstGeom prst="rect">
            <a:avLst/>
          </a:prstGeom>
        </p:spPr>
        <p:txBody>
          <a:bodyPr lIns="0" tIns="0" rIns="0" bIns="0" rtlCol="0" anchor="t">
            <a:spAutoFit/>
          </a:bodyPr>
          <a:lstStyle/>
          <a:p>
            <a:pPr algn="l">
              <a:lnSpc>
                <a:spcPts val="2568"/>
              </a:lnSpc>
            </a:pPr>
            <a:r>
              <a:rPr lang="en-US" sz="2059" b="1">
                <a:solidFill>
                  <a:srgbClr val="161613"/>
                </a:solidFill>
                <a:latin typeface="Calibri (MS) Bold"/>
                <a:ea typeface="Calibri (MS) Bold"/>
                <a:cs typeface="Calibri (MS) Bold"/>
                <a:sym typeface="Calibri (MS) Bold"/>
              </a:rPr>
              <a:t>(Department of Electrical and Electronics Engineering)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6E2DB"/>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9F8F5"/>
            </a:solidFill>
          </p:spPr>
        </p:sp>
      </p:grpSp>
      <p:grpSp>
        <p:nvGrpSpPr>
          <p:cNvPr id="6" name="Group 6"/>
          <p:cNvGrpSpPr/>
          <p:nvPr/>
        </p:nvGrpSpPr>
        <p:grpSpPr>
          <a:xfrm>
            <a:off x="0" y="0"/>
            <a:ext cx="6858000" cy="10287000"/>
            <a:chOff x="0" y="0"/>
            <a:chExt cx="9144000" cy="13716000"/>
          </a:xfrm>
        </p:grpSpPr>
        <p:sp>
          <p:nvSpPr>
            <p:cNvPr id="7" name="Freeform 7"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3"/>
              <a:stretch>
                <a:fillRect/>
              </a:stretch>
            </a:blipFill>
          </p:spPr>
        </p:sp>
      </p:grpSp>
      <p:sp>
        <p:nvSpPr>
          <p:cNvPr id="8" name="TextBox 8"/>
          <p:cNvSpPr txBox="1"/>
          <p:nvPr/>
        </p:nvSpPr>
        <p:spPr>
          <a:xfrm>
            <a:off x="7341868" y="119758"/>
            <a:ext cx="9445523" cy="1684534"/>
          </a:xfrm>
          <a:prstGeom prst="rect">
            <a:avLst/>
          </a:prstGeom>
        </p:spPr>
        <p:txBody>
          <a:bodyPr lIns="0" tIns="0" rIns="0" bIns="0" rtlCol="0" anchor="t">
            <a:spAutoFit/>
          </a:bodyPr>
          <a:lstStyle/>
          <a:p>
            <a:pPr algn="ctr">
              <a:lnSpc>
                <a:spcPts val="6235"/>
              </a:lnSpc>
            </a:pPr>
            <a:r>
              <a:rPr lang="en-US" sz="5000" b="1" dirty="0">
                <a:solidFill>
                  <a:srgbClr val="161613"/>
                </a:solidFill>
                <a:latin typeface="Calibri (MS) Bold"/>
                <a:ea typeface="Calibri (MS) Bold"/>
                <a:cs typeface="Calibri (MS) Bold"/>
                <a:sym typeface="Calibri (MS) Bold"/>
              </a:rPr>
              <a:t>Advanced Driver Assistance Systems (ADAS)</a:t>
            </a:r>
          </a:p>
        </p:txBody>
      </p:sp>
      <p:sp>
        <p:nvSpPr>
          <p:cNvPr id="9" name="TextBox 9"/>
          <p:cNvSpPr txBox="1"/>
          <p:nvPr/>
        </p:nvSpPr>
        <p:spPr>
          <a:xfrm>
            <a:off x="7813777" y="2015140"/>
            <a:ext cx="9445523" cy="7839903"/>
          </a:xfrm>
          <a:prstGeom prst="rect">
            <a:avLst/>
          </a:prstGeom>
        </p:spPr>
        <p:txBody>
          <a:bodyPr lIns="0" tIns="0" rIns="0" bIns="0" rtlCol="0" anchor="t">
            <a:spAutoFit/>
          </a:bodyPr>
          <a:lstStyle/>
          <a:p>
            <a:pPr marL="539749" lvl="1" indent="-269875" algn="l">
              <a:lnSpc>
                <a:spcPts val="4069"/>
              </a:lnSpc>
              <a:buFont typeface="Arial"/>
              <a:buChar char="•"/>
            </a:pPr>
            <a:r>
              <a:rPr lang="en-US" sz="2499" dirty="0">
                <a:solidFill>
                  <a:srgbClr val="161613"/>
                </a:solidFill>
                <a:latin typeface="Calibri (MS)"/>
                <a:ea typeface="Calibri (MS)"/>
                <a:cs typeface="Calibri (MS)"/>
                <a:sym typeface="Calibri (MS)"/>
              </a:rPr>
              <a:t>T</a:t>
            </a:r>
            <a:r>
              <a:rPr lang="en-IN" sz="2499" dirty="0">
                <a:solidFill>
                  <a:srgbClr val="161613"/>
                </a:solidFill>
                <a:latin typeface="Calibri (MS)"/>
                <a:ea typeface="Calibri (MS)"/>
                <a:cs typeface="Calibri (MS)"/>
                <a:sym typeface="Calibri (MS)"/>
              </a:rPr>
              <a:t>he ADAS are a collection of passive and active safety systems designed to remove the human error when operating vehicles. Hence, ADAS uses advanced technologies to assist the driver during driving and hence improve user performance. </a:t>
            </a:r>
          </a:p>
          <a:p>
            <a:pPr marL="269874" lvl="1" algn="l">
              <a:lnSpc>
                <a:spcPts val="4069"/>
              </a:lnSpc>
            </a:pPr>
            <a:endParaRPr lang="en-US" sz="2499" dirty="0">
              <a:solidFill>
                <a:srgbClr val="161613"/>
              </a:solidFill>
              <a:latin typeface="Calibri (MS)"/>
              <a:ea typeface="Calibri (MS)"/>
              <a:cs typeface="Calibri (MS)"/>
              <a:sym typeface="Calibri (MS)"/>
            </a:endParaRPr>
          </a:p>
          <a:p>
            <a:pPr marL="539749" lvl="1" indent="-269875">
              <a:lnSpc>
                <a:spcPts val="4069"/>
              </a:lnSpc>
              <a:buFont typeface="Arial"/>
              <a:buChar char="•"/>
            </a:pPr>
            <a:r>
              <a:rPr lang="en-US" sz="2500" dirty="0">
                <a:latin typeface="Calibri (MS)" panose="020B0604020202020204" charset="0"/>
                <a:cs typeface="Calibri (MS)" panose="020B0604020202020204" charset="0"/>
              </a:rPr>
              <a:t>The </a:t>
            </a:r>
            <a:r>
              <a:rPr lang="en-IN" sz="2500" dirty="0">
                <a:latin typeface="Calibri (MS)" panose="020B0604020202020204" charset="0"/>
                <a:cs typeface="Calibri (MS)" panose="020B0604020202020204" charset="0"/>
              </a:rPr>
              <a:t>role of ADAS is to prevent deaths by reducing the number of car accidents and the serious impact of those which cannot be avoided. 90% of road accidents occur due to human error.</a:t>
            </a:r>
          </a:p>
          <a:p>
            <a:pPr algn="l">
              <a:lnSpc>
                <a:spcPts val="4069"/>
              </a:lnSpc>
            </a:pPr>
            <a:endParaRPr lang="en-US" sz="2499" dirty="0">
              <a:solidFill>
                <a:srgbClr val="161613"/>
              </a:solidFill>
              <a:latin typeface="Calibri (MS)"/>
              <a:ea typeface="Calibri (MS)"/>
              <a:cs typeface="Calibri (MS)"/>
              <a:sym typeface="Calibri (MS)"/>
            </a:endParaRPr>
          </a:p>
          <a:p>
            <a:pPr marL="539749" lvl="1" indent="-269875" algn="l">
              <a:lnSpc>
                <a:spcPts val="4069"/>
              </a:lnSpc>
              <a:buFont typeface="Arial"/>
              <a:buChar char="•"/>
            </a:pPr>
            <a:r>
              <a:rPr lang="en-US" sz="2499" dirty="0">
                <a:solidFill>
                  <a:srgbClr val="161613"/>
                </a:solidFill>
                <a:latin typeface="Calibri (MS)"/>
                <a:ea typeface="Calibri (MS)"/>
                <a:cs typeface="Calibri (MS)"/>
                <a:sym typeface="Calibri (MS)"/>
              </a:rPr>
              <a:t>ADAS uses a wide variety of sensors to perceive the world around it and then either provides information to the driver or takes automatic action based on what it perceives. </a:t>
            </a:r>
          </a:p>
          <a:p>
            <a:pPr algn="l">
              <a:lnSpc>
                <a:spcPts val="4069"/>
              </a:lnSpc>
            </a:pPr>
            <a:endParaRPr lang="en-US" sz="2499" dirty="0">
              <a:solidFill>
                <a:srgbClr val="161613"/>
              </a:solidFill>
              <a:latin typeface="Calibri (MS)"/>
              <a:ea typeface="Calibri (MS)"/>
              <a:cs typeface="Calibri (MS)"/>
              <a:sym typeface="Calibri (MS)"/>
            </a:endParaRPr>
          </a:p>
          <a:p>
            <a:pPr marL="539749" lvl="1" indent="-269875" algn="l">
              <a:lnSpc>
                <a:spcPts val="4071"/>
              </a:lnSpc>
              <a:buFont typeface="Arial"/>
              <a:buChar char="•"/>
            </a:pPr>
            <a:r>
              <a:rPr lang="en-US" sz="2499" dirty="0">
                <a:solidFill>
                  <a:srgbClr val="161613"/>
                </a:solidFill>
                <a:latin typeface="Calibri (MS)"/>
                <a:ea typeface="Calibri (MS)"/>
                <a:cs typeface="Calibri (MS)"/>
                <a:sym typeface="Calibri (MS)"/>
              </a:rPr>
              <a:t>The modernization of ADAS is the first steps towards realizing autonomous vehicles.</a:t>
            </a:r>
          </a:p>
        </p:txBody>
      </p:sp>
      <p:sp>
        <p:nvSpPr>
          <p:cNvPr id="10" name="TextBox 10"/>
          <p:cNvSpPr txBox="1"/>
          <p:nvPr/>
        </p:nvSpPr>
        <p:spPr>
          <a:xfrm>
            <a:off x="17460227" y="9929350"/>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272728">
                    <a:alpha val="47843"/>
                  </a:srgbClr>
                </a:solidFill>
                <a:latin typeface="Canva Sans"/>
                <a:ea typeface="Canva Sans"/>
                <a:cs typeface="Canva Sans"/>
                <a:sym typeface="Canva Sans"/>
              </a:rPr>
              <a:t>Page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6E2DB"/>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9F8F5"/>
            </a:solidFill>
          </p:spPr>
        </p:sp>
      </p:grpSp>
      <p:grpSp>
        <p:nvGrpSpPr>
          <p:cNvPr id="6" name="Group 6"/>
          <p:cNvGrpSpPr/>
          <p:nvPr/>
        </p:nvGrpSpPr>
        <p:grpSpPr>
          <a:xfrm>
            <a:off x="229007" y="472996"/>
            <a:ext cx="7716856" cy="4511902"/>
            <a:chOff x="0" y="0"/>
            <a:chExt cx="23458931" cy="13716000"/>
          </a:xfrm>
        </p:grpSpPr>
        <p:sp>
          <p:nvSpPr>
            <p:cNvPr id="7" name="Freeform 7"/>
            <p:cNvSpPr/>
            <p:nvPr/>
          </p:nvSpPr>
          <p:spPr>
            <a:xfrm>
              <a:off x="0" y="0"/>
              <a:ext cx="23458931" cy="13716000"/>
            </a:xfrm>
            <a:custGeom>
              <a:avLst/>
              <a:gdLst/>
              <a:ahLst/>
              <a:cxnLst/>
              <a:rect l="l" t="t" r="r" b="b"/>
              <a:pathLst>
                <a:path w="23458931" h="13716000">
                  <a:moveTo>
                    <a:pt x="0" y="0"/>
                  </a:moveTo>
                  <a:lnTo>
                    <a:pt x="23458931" y="0"/>
                  </a:lnTo>
                  <a:lnTo>
                    <a:pt x="23458931" y="13716000"/>
                  </a:lnTo>
                  <a:lnTo>
                    <a:pt x="0" y="13716000"/>
                  </a:lnTo>
                  <a:lnTo>
                    <a:pt x="0" y="0"/>
                  </a:lnTo>
                  <a:close/>
                </a:path>
              </a:pathLst>
            </a:custGeom>
            <a:blipFill>
              <a:blip r:embed="rId3"/>
              <a:stretch>
                <a:fillRect t="-36169" b="-36169"/>
              </a:stretch>
            </a:blipFill>
          </p:spPr>
        </p:sp>
      </p:grpSp>
      <p:grpSp>
        <p:nvGrpSpPr>
          <p:cNvPr id="8" name="Group 8"/>
          <p:cNvGrpSpPr/>
          <p:nvPr/>
        </p:nvGrpSpPr>
        <p:grpSpPr>
          <a:xfrm>
            <a:off x="7945863" y="1815013"/>
            <a:ext cx="9445523" cy="7718137"/>
            <a:chOff x="0" y="-152400"/>
            <a:chExt cx="12594031" cy="10290849"/>
          </a:xfrm>
        </p:grpSpPr>
        <p:sp>
          <p:nvSpPr>
            <p:cNvPr id="9" name="TextBox 9"/>
            <p:cNvSpPr txBox="1"/>
            <p:nvPr/>
          </p:nvSpPr>
          <p:spPr>
            <a:xfrm>
              <a:off x="0" y="-152400"/>
              <a:ext cx="12594031" cy="2714172"/>
            </a:xfrm>
            <a:prstGeom prst="rect">
              <a:avLst/>
            </a:prstGeom>
          </p:spPr>
          <p:txBody>
            <a:bodyPr lIns="0" tIns="0" rIns="0" bIns="0" rtlCol="0" anchor="t">
              <a:spAutoFit/>
            </a:bodyPr>
            <a:lstStyle/>
            <a:p>
              <a:pPr marL="539749" lvl="1" indent="-269875" algn="l">
                <a:lnSpc>
                  <a:spcPts val="4071"/>
                </a:lnSpc>
                <a:buFont typeface="Arial"/>
                <a:buChar char="•"/>
              </a:pPr>
              <a:r>
                <a:rPr lang="en-US" sz="2499">
                  <a:solidFill>
                    <a:srgbClr val="161613"/>
                  </a:solidFill>
                  <a:latin typeface="Calibri (MS)"/>
                  <a:ea typeface="Calibri (MS)"/>
                  <a:cs typeface="Calibri (MS)"/>
                  <a:sym typeface="Calibri (MS)"/>
                </a:rPr>
                <a:t>Modern cars use a variety of technologies to gain 360-degree vision. The ADAS consists of sensors, SoCs (System on a Chip), interface and a processor that integrates all of the data and makes decisions in real-time.</a:t>
              </a:r>
            </a:p>
          </p:txBody>
        </p:sp>
        <p:sp>
          <p:nvSpPr>
            <p:cNvPr id="10" name="TextBox 10"/>
            <p:cNvSpPr txBox="1"/>
            <p:nvPr/>
          </p:nvSpPr>
          <p:spPr>
            <a:xfrm>
              <a:off x="0" y="3622489"/>
              <a:ext cx="12594031" cy="2713819"/>
            </a:xfrm>
            <a:prstGeom prst="rect">
              <a:avLst/>
            </a:prstGeom>
          </p:spPr>
          <p:txBody>
            <a:bodyPr lIns="0" tIns="0" rIns="0" bIns="0" rtlCol="0" anchor="t">
              <a:spAutoFit/>
            </a:bodyPr>
            <a:lstStyle/>
            <a:p>
              <a:pPr marL="539749" lvl="1" indent="-269875" algn="l">
                <a:lnSpc>
                  <a:spcPts val="4071"/>
                </a:lnSpc>
                <a:buFont typeface="Arial"/>
                <a:buChar char="•"/>
              </a:pPr>
              <a:r>
                <a:rPr lang="en-US" sz="2499" dirty="0">
                  <a:solidFill>
                    <a:srgbClr val="161613"/>
                  </a:solidFill>
                  <a:latin typeface="Calibri (MS)"/>
                  <a:ea typeface="Calibri (MS)"/>
                  <a:cs typeface="Calibri (MS)"/>
                  <a:sym typeface="Calibri (MS)"/>
                </a:rPr>
                <a:t>ADAS uses sensor fusion - combines data from multiple sensors like camera, radar, LiDAR to produce more accurate and reliable than a single sensor can provide alone. This is then used to make decisions and alert the driver or take some action by itself.</a:t>
              </a:r>
            </a:p>
          </p:txBody>
        </p:sp>
        <p:sp>
          <p:nvSpPr>
            <p:cNvPr id="11" name="TextBox 11"/>
            <p:cNvSpPr txBox="1"/>
            <p:nvPr/>
          </p:nvSpPr>
          <p:spPr>
            <a:xfrm>
              <a:off x="0" y="7396757"/>
              <a:ext cx="12594031" cy="2741692"/>
            </a:xfrm>
            <a:prstGeom prst="rect">
              <a:avLst/>
            </a:prstGeom>
          </p:spPr>
          <p:txBody>
            <a:bodyPr lIns="0" tIns="0" rIns="0" bIns="0" rtlCol="0" anchor="t">
              <a:spAutoFit/>
            </a:bodyPr>
            <a:lstStyle/>
            <a:p>
              <a:pPr marL="539749" lvl="1" indent="-269875" algn="l">
                <a:lnSpc>
                  <a:spcPts val="4071"/>
                </a:lnSpc>
                <a:buFont typeface="Arial"/>
                <a:buChar char="•"/>
              </a:pPr>
              <a:r>
                <a:rPr lang="en-US" sz="2499" dirty="0">
                  <a:solidFill>
                    <a:srgbClr val="161613"/>
                  </a:solidFill>
                  <a:latin typeface="Calibri (MS)"/>
                  <a:ea typeface="Calibri (MS)"/>
                  <a:cs typeface="Calibri (MS)"/>
                  <a:sym typeface="Calibri (MS)"/>
                </a:rPr>
                <a:t>The basic notion of ADAS is that it augments humans sensory and cognitive functions: eyes, ears and decision making. For example, humans cannot see in the dark but radar can, hence it can be used to see in the dark.</a:t>
              </a:r>
            </a:p>
          </p:txBody>
        </p:sp>
      </p:grpSp>
      <p:grpSp>
        <p:nvGrpSpPr>
          <p:cNvPr id="12" name="Group 12"/>
          <p:cNvGrpSpPr/>
          <p:nvPr/>
        </p:nvGrpSpPr>
        <p:grpSpPr>
          <a:xfrm>
            <a:off x="229007" y="5143500"/>
            <a:ext cx="7716856" cy="4511902"/>
            <a:chOff x="0" y="0"/>
            <a:chExt cx="23458931" cy="13716000"/>
          </a:xfrm>
        </p:grpSpPr>
        <p:sp>
          <p:nvSpPr>
            <p:cNvPr id="13" name="Freeform 13"/>
            <p:cNvSpPr/>
            <p:nvPr/>
          </p:nvSpPr>
          <p:spPr>
            <a:xfrm>
              <a:off x="0" y="0"/>
              <a:ext cx="23458931" cy="13716000"/>
            </a:xfrm>
            <a:custGeom>
              <a:avLst/>
              <a:gdLst/>
              <a:ahLst/>
              <a:cxnLst/>
              <a:rect l="l" t="t" r="r" b="b"/>
              <a:pathLst>
                <a:path w="23458931" h="13716000">
                  <a:moveTo>
                    <a:pt x="0" y="0"/>
                  </a:moveTo>
                  <a:lnTo>
                    <a:pt x="23458931" y="0"/>
                  </a:lnTo>
                  <a:lnTo>
                    <a:pt x="23458931" y="13716000"/>
                  </a:lnTo>
                  <a:lnTo>
                    <a:pt x="0" y="13716000"/>
                  </a:lnTo>
                  <a:lnTo>
                    <a:pt x="0" y="0"/>
                  </a:lnTo>
                  <a:close/>
                </a:path>
              </a:pathLst>
            </a:custGeom>
            <a:blipFill>
              <a:blip r:embed="rId4"/>
              <a:stretch>
                <a:fillRect l="-22" r="-22"/>
              </a:stretch>
            </a:blipFill>
          </p:spPr>
        </p:sp>
      </p:grpSp>
      <p:sp>
        <p:nvSpPr>
          <p:cNvPr id="14" name="TextBox 14"/>
          <p:cNvSpPr txBox="1"/>
          <p:nvPr/>
        </p:nvSpPr>
        <p:spPr>
          <a:xfrm>
            <a:off x="7512253" y="119758"/>
            <a:ext cx="9445523" cy="893959"/>
          </a:xfrm>
          <a:prstGeom prst="rect">
            <a:avLst/>
          </a:prstGeom>
        </p:spPr>
        <p:txBody>
          <a:bodyPr lIns="0" tIns="0" rIns="0" bIns="0" rtlCol="0" anchor="t">
            <a:spAutoFit/>
          </a:bodyPr>
          <a:lstStyle/>
          <a:p>
            <a:pPr algn="ctr">
              <a:lnSpc>
                <a:spcPts val="6235"/>
              </a:lnSpc>
            </a:pPr>
            <a:r>
              <a:rPr lang="en-US" sz="5000" b="1" dirty="0">
                <a:solidFill>
                  <a:srgbClr val="161613"/>
                </a:solidFill>
                <a:latin typeface="Calibri (MS) Bold"/>
                <a:ea typeface="Calibri (MS) Bold"/>
                <a:cs typeface="Calibri (MS) Bold"/>
                <a:sym typeface="Calibri (MS) Bold"/>
              </a:rPr>
              <a:t>How does ADAS work?</a:t>
            </a:r>
          </a:p>
        </p:txBody>
      </p:sp>
      <p:sp>
        <p:nvSpPr>
          <p:cNvPr id="15" name="TextBox 15"/>
          <p:cNvSpPr txBox="1"/>
          <p:nvPr/>
        </p:nvSpPr>
        <p:spPr>
          <a:xfrm>
            <a:off x="17460227" y="9929350"/>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272728">
                    <a:alpha val="47843"/>
                  </a:srgbClr>
                </a:solidFill>
                <a:latin typeface="Canva Sans"/>
                <a:ea typeface="Canva Sans"/>
                <a:cs typeface="Canva Sans"/>
                <a:sym typeface="Canva Sans"/>
              </a:rPr>
              <a:t>Page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6E2DB"/>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9F8F5"/>
            </a:solidFill>
          </p:spPr>
        </p:sp>
      </p:grpSp>
      <p:grpSp>
        <p:nvGrpSpPr>
          <p:cNvPr id="6" name="Group 6"/>
          <p:cNvGrpSpPr/>
          <p:nvPr/>
        </p:nvGrpSpPr>
        <p:grpSpPr>
          <a:xfrm>
            <a:off x="9280147" y="3316378"/>
            <a:ext cx="8686083" cy="4925167"/>
            <a:chOff x="0" y="0"/>
            <a:chExt cx="10628909" cy="6026786"/>
          </a:xfrm>
        </p:grpSpPr>
        <p:sp>
          <p:nvSpPr>
            <p:cNvPr id="7" name="Freeform 7"/>
            <p:cNvSpPr/>
            <p:nvPr/>
          </p:nvSpPr>
          <p:spPr>
            <a:xfrm>
              <a:off x="0" y="0"/>
              <a:ext cx="10628884" cy="6026798"/>
            </a:xfrm>
            <a:custGeom>
              <a:avLst/>
              <a:gdLst/>
              <a:ahLst/>
              <a:cxnLst/>
              <a:rect l="l" t="t" r="r" b="b"/>
              <a:pathLst>
                <a:path w="10628884" h="6026798">
                  <a:moveTo>
                    <a:pt x="0" y="0"/>
                  </a:moveTo>
                  <a:lnTo>
                    <a:pt x="10628884" y="0"/>
                  </a:lnTo>
                  <a:lnTo>
                    <a:pt x="10628884" y="6026798"/>
                  </a:lnTo>
                  <a:lnTo>
                    <a:pt x="0" y="6026798"/>
                  </a:lnTo>
                  <a:lnTo>
                    <a:pt x="0" y="0"/>
                  </a:lnTo>
                  <a:close/>
                </a:path>
              </a:pathLst>
            </a:custGeom>
            <a:blipFill>
              <a:blip r:embed="rId3"/>
              <a:stretch>
                <a:fillRect l="-419" r="-419"/>
              </a:stretch>
            </a:blipFill>
          </p:spPr>
        </p:sp>
      </p:grpSp>
      <p:sp>
        <p:nvSpPr>
          <p:cNvPr id="8" name="TextBox 8"/>
          <p:cNvSpPr txBox="1"/>
          <p:nvPr/>
        </p:nvSpPr>
        <p:spPr>
          <a:xfrm>
            <a:off x="1028700" y="11402"/>
            <a:ext cx="16502894" cy="893959"/>
          </a:xfrm>
          <a:prstGeom prst="rect">
            <a:avLst/>
          </a:prstGeom>
        </p:spPr>
        <p:txBody>
          <a:bodyPr lIns="0" tIns="0" rIns="0" bIns="0" rtlCol="0" anchor="t">
            <a:spAutoFit/>
          </a:bodyPr>
          <a:lstStyle/>
          <a:p>
            <a:pPr algn="ctr">
              <a:lnSpc>
                <a:spcPts val="6235"/>
              </a:lnSpc>
            </a:pPr>
            <a:r>
              <a:rPr lang="en-US" sz="5000" b="1" dirty="0">
                <a:solidFill>
                  <a:srgbClr val="161613"/>
                </a:solidFill>
                <a:latin typeface="Calibri (MS) Bold"/>
                <a:ea typeface="Calibri (MS) Bold"/>
                <a:cs typeface="Calibri (MS) Bold"/>
                <a:sym typeface="Calibri (MS) Bold"/>
              </a:rPr>
              <a:t>ADAS Levels</a:t>
            </a:r>
          </a:p>
        </p:txBody>
      </p:sp>
      <p:sp>
        <p:nvSpPr>
          <p:cNvPr id="9" name="TextBox 9"/>
          <p:cNvSpPr txBox="1"/>
          <p:nvPr/>
        </p:nvSpPr>
        <p:spPr>
          <a:xfrm>
            <a:off x="1028700" y="934345"/>
            <a:ext cx="16230600" cy="1004699"/>
          </a:xfrm>
          <a:prstGeom prst="rect">
            <a:avLst/>
          </a:prstGeom>
        </p:spPr>
        <p:txBody>
          <a:bodyPr lIns="0" tIns="0" rIns="0" bIns="0" rtlCol="0" anchor="t">
            <a:spAutoFit/>
          </a:bodyPr>
          <a:lstStyle/>
          <a:p>
            <a:pPr algn="l">
              <a:lnSpc>
                <a:spcPts val="4071"/>
              </a:lnSpc>
            </a:pPr>
            <a:r>
              <a:rPr lang="en-US" sz="2499" dirty="0">
                <a:solidFill>
                  <a:srgbClr val="161613"/>
                </a:solidFill>
                <a:latin typeface="Calibri (MS)"/>
                <a:ea typeface="Calibri (MS)"/>
                <a:cs typeface="Calibri (MS)"/>
                <a:sym typeface="Calibri (MS)"/>
              </a:rPr>
              <a:t>The ADAS levels are categorized based on the degree of automation, classified by the Society of Automotive Engineers (SAE), a professional association and standards organization for aerospace and automotive engineering.</a:t>
            </a:r>
          </a:p>
        </p:txBody>
      </p:sp>
      <p:sp>
        <p:nvSpPr>
          <p:cNvPr id="10" name="TextBox 10"/>
          <p:cNvSpPr txBox="1"/>
          <p:nvPr/>
        </p:nvSpPr>
        <p:spPr>
          <a:xfrm>
            <a:off x="1028700" y="2187419"/>
            <a:ext cx="7527280" cy="8974508"/>
          </a:xfrm>
          <a:prstGeom prst="rect">
            <a:avLst/>
          </a:prstGeom>
        </p:spPr>
        <p:txBody>
          <a:bodyPr lIns="0" tIns="0" rIns="0" bIns="0" rtlCol="0" anchor="t">
            <a:spAutoFit/>
          </a:bodyPr>
          <a:lstStyle/>
          <a:p>
            <a:pPr algn="l">
              <a:lnSpc>
                <a:spcPts val="3744"/>
              </a:lnSpc>
            </a:pPr>
            <a:r>
              <a:rPr lang="en-US" sz="2300" b="1" u="sng" dirty="0">
                <a:solidFill>
                  <a:srgbClr val="161613"/>
                </a:solidFill>
                <a:latin typeface="Calibri (MS) Bold"/>
                <a:ea typeface="Calibri (MS) Bold"/>
                <a:cs typeface="Calibri (MS) Bold"/>
                <a:sym typeface="Calibri (MS) Bold"/>
              </a:rPr>
              <a:t>Level 0</a:t>
            </a:r>
            <a:r>
              <a:rPr lang="en-US" sz="2300" b="1" dirty="0">
                <a:solidFill>
                  <a:srgbClr val="161613"/>
                </a:solidFill>
                <a:latin typeface="Calibri (MS) Bold"/>
                <a:ea typeface="Calibri (MS) Bold"/>
                <a:cs typeface="Calibri (MS) Bold"/>
                <a:sym typeface="Calibri (MS) Bold"/>
              </a:rPr>
              <a:t>:</a:t>
            </a:r>
            <a:r>
              <a:rPr lang="en-US" sz="2300" dirty="0">
                <a:solidFill>
                  <a:srgbClr val="161613"/>
                </a:solidFill>
                <a:latin typeface="Calibri (MS)"/>
                <a:ea typeface="Calibri (MS)"/>
                <a:cs typeface="Calibri (MS)"/>
                <a:sym typeface="Calibri (MS)"/>
              </a:rPr>
              <a:t> No automation, driver is entirely responsible for managing the vehicle.</a:t>
            </a:r>
          </a:p>
          <a:p>
            <a:pPr algn="l">
              <a:lnSpc>
                <a:spcPts val="3744"/>
              </a:lnSpc>
            </a:pPr>
            <a:endParaRPr lang="en-US" sz="2300" dirty="0">
              <a:solidFill>
                <a:srgbClr val="161613"/>
              </a:solidFill>
              <a:latin typeface="Calibri (MS)"/>
              <a:ea typeface="Calibri (MS)"/>
              <a:cs typeface="Calibri (MS)"/>
              <a:sym typeface="Calibri (MS)"/>
            </a:endParaRPr>
          </a:p>
          <a:p>
            <a:pPr algn="l">
              <a:lnSpc>
                <a:spcPts val="3744"/>
              </a:lnSpc>
            </a:pPr>
            <a:r>
              <a:rPr lang="en-US" sz="2300" b="1" u="sng" dirty="0">
                <a:solidFill>
                  <a:srgbClr val="161613"/>
                </a:solidFill>
                <a:latin typeface="Calibri (MS) Bold"/>
                <a:ea typeface="Calibri (MS) Bold"/>
                <a:cs typeface="Calibri (MS) Bold"/>
                <a:sym typeface="Calibri (MS) Bold"/>
              </a:rPr>
              <a:t>Level 1</a:t>
            </a:r>
            <a:r>
              <a:rPr lang="en-US" sz="2300" b="1" dirty="0">
                <a:solidFill>
                  <a:srgbClr val="161613"/>
                </a:solidFill>
                <a:latin typeface="Calibri (MS) Bold"/>
                <a:ea typeface="Calibri (MS) Bold"/>
                <a:cs typeface="Calibri (MS) Bold"/>
                <a:sym typeface="Calibri (MS) Bold"/>
              </a:rPr>
              <a:t>:</a:t>
            </a:r>
            <a:r>
              <a:rPr lang="en-US" sz="2300" dirty="0">
                <a:solidFill>
                  <a:srgbClr val="161613"/>
                </a:solidFill>
                <a:latin typeface="Calibri (MS)"/>
                <a:ea typeface="Calibri (MS)"/>
                <a:cs typeface="Calibri (MS)"/>
                <a:sym typeface="Calibri (MS)"/>
              </a:rPr>
              <a:t> Vehicle has </a:t>
            </a:r>
            <a:r>
              <a:rPr lang="en-US" sz="2300" dirty="0" err="1">
                <a:solidFill>
                  <a:srgbClr val="161613"/>
                </a:solidFill>
                <a:latin typeface="Calibri (MS)"/>
                <a:ea typeface="Calibri (MS)"/>
                <a:cs typeface="Calibri (MS)"/>
                <a:sym typeface="Calibri (MS)"/>
              </a:rPr>
              <a:t>atleast</a:t>
            </a:r>
            <a:r>
              <a:rPr lang="en-US" sz="2300" dirty="0">
                <a:solidFill>
                  <a:srgbClr val="161613"/>
                </a:solidFill>
                <a:latin typeface="Calibri (MS)"/>
                <a:ea typeface="Calibri (MS)"/>
                <a:cs typeface="Calibri (MS)"/>
                <a:sym typeface="Calibri (MS)"/>
              </a:rPr>
              <a:t> one driver support system either steering or acceleration/braking but not both.</a:t>
            </a:r>
          </a:p>
          <a:p>
            <a:pPr algn="l">
              <a:lnSpc>
                <a:spcPts val="3744"/>
              </a:lnSpc>
            </a:pPr>
            <a:endParaRPr lang="en-US" sz="2300" dirty="0">
              <a:solidFill>
                <a:srgbClr val="161613"/>
              </a:solidFill>
              <a:latin typeface="Calibri (MS)"/>
              <a:ea typeface="Calibri (MS)"/>
              <a:cs typeface="Calibri (MS)"/>
              <a:sym typeface="Calibri (MS)"/>
            </a:endParaRPr>
          </a:p>
          <a:p>
            <a:pPr algn="l">
              <a:lnSpc>
                <a:spcPts val="3744"/>
              </a:lnSpc>
            </a:pPr>
            <a:r>
              <a:rPr lang="en-US" sz="2300" b="1" u="sng" dirty="0">
                <a:solidFill>
                  <a:srgbClr val="161613"/>
                </a:solidFill>
                <a:latin typeface="Calibri (MS) Bold"/>
                <a:ea typeface="Calibri (MS) Bold"/>
                <a:cs typeface="Calibri (MS) Bold"/>
                <a:sym typeface="Calibri (MS) Bold"/>
              </a:rPr>
              <a:t>Level 2</a:t>
            </a:r>
            <a:r>
              <a:rPr lang="en-US" sz="2300" b="1" dirty="0">
                <a:solidFill>
                  <a:srgbClr val="161613"/>
                </a:solidFill>
                <a:latin typeface="Calibri (MS) Bold"/>
                <a:ea typeface="Calibri (MS) Bold"/>
                <a:cs typeface="Calibri (MS) Bold"/>
                <a:sym typeface="Calibri (MS) Bold"/>
              </a:rPr>
              <a:t>:</a:t>
            </a:r>
            <a:r>
              <a:rPr lang="en-US" sz="2300" dirty="0">
                <a:solidFill>
                  <a:srgbClr val="161613"/>
                </a:solidFill>
                <a:latin typeface="Calibri (MS)"/>
                <a:ea typeface="Calibri (MS)"/>
                <a:cs typeface="Calibri (MS)"/>
                <a:sym typeface="Calibri (MS)"/>
              </a:rPr>
              <a:t> Vehicle can perform steering and acceleration. The driver still monitors all tasks and take control at any time. Most modern cars lie in level 2.</a:t>
            </a:r>
          </a:p>
          <a:p>
            <a:pPr algn="l">
              <a:lnSpc>
                <a:spcPts val="3744"/>
              </a:lnSpc>
            </a:pPr>
            <a:endParaRPr lang="en-US" sz="2300" dirty="0">
              <a:solidFill>
                <a:srgbClr val="161613"/>
              </a:solidFill>
              <a:latin typeface="Calibri (MS)"/>
              <a:ea typeface="Calibri (MS)"/>
              <a:cs typeface="Calibri (MS)"/>
              <a:sym typeface="Calibri (MS)"/>
            </a:endParaRPr>
          </a:p>
          <a:p>
            <a:pPr algn="l">
              <a:lnSpc>
                <a:spcPts val="3744"/>
              </a:lnSpc>
            </a:pPr>
            <a:r>
              <a:rPr lang="en-US" sz="2300" b="1" u="sng" dirty="0">
                <a:solidFill>
                  <a:srgbClr val="161613"/>
                </a:solidFill>
                <a:latin typeface="Calibri (MS) Bold"/>
                <a:ea typeface="Calibri (MS) Bold"/>
                <a:cs typeface="Calibri (MS) Bold"/>
                <a:sym typeface="Calibri (MS) Bold"/>
              </a:rPr>
              <a:t>Level 3</a:t>
            </a:r>
            <a:r>
              <a:rPr lang="en-US" sz="2300" b="1" dirty="0">
                <a:solidFill>
                  <a:srgbClr val="161613"/>
                </a:solidFill>
                <a:latin typeface="Calibri (MS) Bold"/>
                <a:ea typeface="Calibri (MS) Bold"/>
                <a:cs typeface="Calibri (MS) Bold"/>
                <a:sym typeface="Calibri (MS) Bold"/>
              </a:rPr>
              <a:t>:</a:t>
            </a:r>
            <a:r>
              <a:rPr lang="en-US" sz="2300" dirty="0">
                <a:solidFill>
                  <a:srgbClr val="161613"/>
                </a:solidFill>
                <a:latin typeface="Calibri (MS)"/>
                <a:ea typeface="Calibri (MS)"/>
                <a:cs typeface="Calibri (MS)"/>
                <a:sym typeface="Calibri (MS)"/>
              </a:rPr>
              <a:t> Drives itself in particular conditions, the driver may need to supervise if the vehicle asks.</a:t>
            </a:r>
          </a:p>
          <a:p>
            <a:pPr algn="l">
              <a:lnSpc>
                <a:spcPts val="3744"/>
              </a:lnSpc>
            </a:pPr>
            <a:endParaRPr lang="en-US" sz="2300" dirty="0">
              <a:solidFill>
                <a:srgbClr val="161613"/>
              </a:solidFill>
              <a:latin typeface="Calibri (MS)"/>
              <a:ea typeface="Calibri (MS)"/>
              <a:cs typeface="Calibri (MS)"/>
              <a:sym typeface="Calibri (MS)"/>
            </a:endParaRPr>
          </a:p>
          <a:p>
            <a:pPr algn="l">
              <a:lnSpc>
                <a:spcPts val="3744"/>
              </a:lnSpc>
            </a:pPr>
            <a:r>
              <a:rPr lang="en-US" sz="2300" b="1" u="sng" dirty="0">
                <a:solidFill>
                  <a:srgbClr val="161613"/>
                </a:solidFill>
                <a:latin typeface="Calibri (MS) Bold"/>
                <a:ea typeface="Calibri (MS) Bold"/>
                <a:cs typeface="Calibri (MS) Bold"/>
                <a:sym typeface="Calibri (MS) Bold"/>
              </a:rPr>
              <a:t>Level 4</a:t>
            </a:r>
            <a:r>
              <a:rPr lang="en-US" sz="2300" dirty="0">
                <a:solidFill>
                  <a:srgbClr val="161613"/>
                </a:solidFill>
                <a:latin typeface="Calibri (MS)"/>
                <a:ea typeface="Calibri (MS)"/>
                <a:cs typeface="Calibri (MS)"/>
                <a:sym typeface="Calibri (MS)"/>
              </a:rPr>
              <a:t>: Restricted to point-to-point driving by geofencing technology</a:t>
            </a:r>
          </a:p>
          <a:p>
            <a:pPr algn="l">
              <a:lnSpc>
                <a:spcPts val="3744"/>
              </a:lnSpc>
            </a:pPr>
            <a:endParaRPr lang="en-US" sz="2300" dirty="0">
              <a:solidFill>
                <a:srgbClr val="161613"/>
              </a:solidFill>
              <a:latin typeface="Calibri (MS)"/>
              <a:ea typeface="Calibri (MS)"/>
              <a:cs typeface="Calibri (MS)"/>
              <a:sym typeface="Calibri (MS)"/>
            </a:endParaRPr>
          </a:p>
          <a:p>
            <a:pPr algn="l">
              <a:lnSpc>
                <a:spcPts val="3744"/>
              </a:lnSpc>
            </a:pPr>
            <a:r>
              <a:rPr lang="en-US" sz="2300" b="1" u="sng" dirty="0">
                <a:solidFill>
                  <a:srgbClr val="161613"/>
                </a:solidFill>
                <a:latin typeface="Calibri (MS) Bold"/>
                <a:ea typeface="Calibri (MS) Bold"/>
                <a:cs typeface="Calibri (MS) Bold"/>
                <a:sym typeface="Calibri (MS) Bold"/>
              </a:rPr>
              <a:t>Level 5</a:t>
            </a:r>
            <a:r>
              <a:rPr lang="en-US" sz="2300" b="1" dirty="0">
                <a:solidFill>
                  <a:srgbClr val="161613"/>
                </a:solidFill>
                <a:latin typeface="Calibri (MS) Bold"/>
                <a:ea typeface="Calibri (MS) Bold"/>
                <a:cs typeface="Calibri (MS) Bold"/>
                <a:sym typeface="Calibri (MS) Bold"/>
              </a:rPr>
              <a:t>:</a:t>
            </a:r>
            <a:r>
              <a:rPr lang="en-US" sz="2300" dirty="0">
                <a:solidFill>
                  <a:srgbClr val="161613"/>
                </a:solidFill>
                <a:latin typeface="Calibri (MS)"/>
                <a:ea typeface="Calibri (MS)"/>
                <a:cs typeface="Calibri (MS)"/>
                <a:sym typeface="Calibri (MS)"/>
              </a:rPr>
              <a:t> Completely autonomous, no driver intervention needed at all.</a:t>
            </a:r>
          </a:p>
          <a:p>
            <a:pPr algn="l">
              <a:lnSpc>
                <a:spcPts val="3745"/>
              </a:lnSpc>
            </a:pPr>
            <a:endParaRPr lang="en-US" sz="2300" dirty="0">
              <a:solidFill>
                <a:srgbClr val="161613"/>
              </a:solidFill>
              <a:latin typeface="Calibri (MS)"/>
              <a:ea typeface="Calibri (MS)"/>
              <a:cs typeface="Calibri (MS)"/>
              <a:sym typeface="Calibri (MS)"/>
            </a:endParaRPr>
          </a:p>
        </p:txBody>
      </p:sp>
      <p:sp>
        <p:nvSpPr>
          <p:cNvPr id="11" name="TextBox 11"/>
          <p:cNvSpPr txBox="1"/>
          <p:nvPr/>
        </p:nvSpPr>
        <p:spPr>
          <a:xfrm>
            <a:off x="17460227" y="9929350"/>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272728">
                    <a:alpha val="47843"/>
                  </a:srgbClr>
                </a:solidFill>
                <a:latin typeface="Canva Sans"/>
                <a:ea typeface="Canva Sans"/>
                <a:cs typeface="Canva Sans"/>
                <a:sym typeface="Canva Sans"/>
              </a:rPr>
              <a:t>Page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6E2DB"/>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9F8F5"/>
            </a:solidFill>
          </p:spPr>
        </p:sp>
      </p:grpSp>
      <p:sp>
        <p:nvSpPr>
          <p:cNvPr id="8" name="TextBox 8"/>
          <p:cNvSpPr txBox="1"/>
          <p:nvPr/>
        </p:nvSpPr>
        <p:spPr>
          <a:xfrm>
            <a:off x="1028700" y="1336028"/>
            <a:ext cx="7807456" cy="1754153"/>
          </a:xfrm>
          <a:prstGeom prst="rect">
            <a:avLst/>
          </a:prstGeom>
        </p:spPr>
        <p:txBody>
          <a:bodyPr lIns="0" tIns="0" rIns="0" bIns="0" rtlCol="0" anchor="t">
            <a:spAutoFit/>
          </a:bodyPr>
          <a:lstStyle/>
          <a:p>
            <a:pPr algn="l">
              <a:lnSpc>
                <a:spcPts val="3439"/>
              </a:lnSpc>
            </a:pPr>
            <a:r>
              <a:rPr lang="en-US" sz="2501">
                <a:solidFill>
                  <a:srgbClr val="161613"/>
                </a:solidFill>
                <a:latin typeface="Calibri (MS)"/>
                <a:ea typeface="Calibri (MS)"/>
                <a:cs typeface="Calibri (MS)"/>
                <a:sym typeface="Calibri (MS)"/>
              </a:rPr>
              <a:t>Adaptive Cruise Control automatically adjusts vehicle speed to maintain a safe following distance from the vehicle ahead, using advanced radar technology, cameras and LiDAR.</a:t>
            </a:r>
          </a:p>
        </p:txBody>
      </p:sp>
      <p:grpSp>
        <p:nvGrpSpPr>
          <p:cNvPr id="9" name="Group 9"/>
          <p:cNvGrpSpPr/>
          <p:nvPr/>
        </p:nvGrpSpPr>
        <p:grpSpPr>
          <a:xfrm>
            <a:off x="1028700" y="3496299"/>
            <a:ext cx="6773962" cy="2437245"/>
            <a:chOff x="0" y="0"/>
            <a:chExt cx="9031949" cy="3249660"/>
          </a:xfrm>
        </p:grpSpPr>
        <p:sp>
          <p:nvSpPr>
            <p:cNvPr id="10" name="TextBox 10"/>
            <p:cNvSpPr txBox="1"/>
            <p:nvPr/>
          </p:nvSpPr>
          <p:spPr>
            <a:xfrm>
              <a:off x="0" y="-76200"/>
              <a:ext cx="4924374" cy="617220"/>
            </a:xfrm>
            <a:prstGeom prst="rect">
              <a:avLst/>
            </a:prstGeom>
          </p:spPr>
          <p:txBody>
            <a:bodyPr lIns="0" tIns="0" rIns="0" bIns="0" rtlCol="0" anchor="t">
              <a:spAutoFit/>
            </a:bodyPr>
            <a:lstStyle/>
            <a:p>
              <a:pPr algn="l">
                <a:lnSpc>
                  <a:spcPts val="3419"/>
                </a:lnSpc>
              </a:pPr>
              <a:r>
                <a:rPr lang="en-US" sz="2699" b="1" u="sng">
                  <a:solidFill>
                    <a:srgbClr val="161613"/>
                  </a:solidFill>
                  <a:latin typeface="Calibri (MS) Bold"/>
                  <a:ea typeface="Calibri (MS) Bold"/>
                  <a:cs typeface="Calibri (MS) Bold"/>
                  <a:sym typeface="Calibri (MS) Bold"/>
                </a:rPr>
                <a:t>How It Works?</a:t>
              </a:r>
            </a:p>
          </p:txBody>
        </p:sp>
        <p:sp>
          <p:nvSpPr>
            <p:cNvPr id="11" name="TextBox 11"/>
            <p:cNvSpPr txBox="1"/>
            <p:nvPr/>
          </p:nvSpPr>
          <p:spPr>
            <a:xfrm>
              <a:off x="0" y="942530"/>
              <a:ext cx="9031949" cy="2307130"/>
            </a:xfrm>
            <a:prstGeom prst="rect">
              <a:avLst/>
            </a:prstGeom>
          </p:spPr>
          <p:txBody>
            <a:bodyPr lIns="0" tIns="0" rIns="0" bIns="0" rtlCol="0" anchor="t">
              <a:spAutoFit/>
            </a:bodyPr>
            <a:lstStyle/>
            <a:p>
              <a:pPr marL="377218" lvl="1" indent="-188609" algn="l">
                <a:lnSpc>
                  <a:spcPts val="3439"/>
                </a:lnSpc>
                <a:buFont typeface="Arial"/>
                <a:buChar char="•"/>
              </a:pPr>
              <a:r>
                <a:rPr lang="en-US" sz="2501">
                  <a:solidFill>
                    <a:srgbClr val="161613"/>
                  </a:solidFill>
                  <a:latin typeface="Calibri (MS)"/>
                  <a:ea typeface="Calibri (MS)"/>
                  <a:cs typeface="Calibri (MS)"/>
                  <a:sym typeface="Calibri (MS)"/>
                </a:rPr>
                <a:t>Radar sensors continuously scan road ahead</a:t>
              </a:r>
            </a:p>
            <a:p>
              <a:pPr marL="377218" lvl="1" indent="-188609" algn="l">
                <a:lnSpc>
                  <a:spcPts val="3439"/>
                </a:lnSpc>
                <a:buFont typeface="Arial"/>
                <a:buChar char="•"/>
              </a:pPr>
              <a:r>
                <a:rPr lang="en-US" sz="2501">
                  <a:solidFill>
                    <a:srgbClr val="161613"/>
                  </a:solidFill>
                  <a:latin typeface="Calibri (MS)"/>
                  <a:ea typeface="Calibri (MS)"/>
                  <a:cs typeface="Calibri (MS)"/>
                  <a:sym typeface="Calibri (MS)"/>
                </a:rPr>
                <a:t>Detects presence and speed of vehicles</a:t>
              </a:r>
            </a:p>
            <a:p>
              <a:pPr marL="377218" lvl="1" indent="-188609" algn="l">
                <a:lnSpc>
                  <a:spcPts val="3439"/>
                </a:lnSpc>
                <a:buFont typeface="Arial"/>
                <a:buChar char="•"/>
              </a:pPr>
              <a:r>
                <a:rPr lang="en-US" sz="2501">
                  <a:solidFill>
                    <a:srgbClr val="161613"/>
                  </a:solidFill>
                  <a:latin typeface="Calibri (MS)"/>
                  <a:ea typeface="Calibri (MS)"/>
                  <a:cs typeface="Calibri (MS)"/>
                  <a:sym typeface="Calibri (MS)"/>
                </a:rPr>
                <a:t>Automatically adjusts throttle and brakes</a:t>
              </a:r>
            </a:p>
            <a:p>
              <a:pPr marL="377218" lvl="1" indent="-188609" algn="l">
                <a:lnSpc>
                  <a:spcPts val="3439"/>
                </a:lnSpc>
                <a:buFont typeface="Arial"/>
                <a:buChar char="•"/>
              </a:pPr>
              <a:r>
                <a:rPr lang="en-US" sz="2501">
                  <a:solidFill>
                    <a:srgbClr val="161613"/>
                  </a:solidFill>
                  <a:latin typeface="Calibri (MS)"/>
                  <a:ea typeface="Calibri (MS)"/>
                  <a:cs typeface="Calibri (MS)"/>
                  <a:sym typeface="Calibri (MS)"/>
                </a:rPr>
                <a:t>Maintains preset following distance</a:t>
              </a:r>
            </a:p>
          </p:txBody>
        </p:sp>
      </p:grpSp>
      <p:grpSp>
        <p:nvGrpSpPr>
          <p:cNvPr id="12" name="Group 12"/>
          <p:cNvGrpSpPr/>
          <p:nvPr/>
        </p:nvGrpSpPr>
        <p:grpSpPr>
          <a:xfrm>
            <a:off x="1032529" y="6663379"/>
            <a:ext cx="6770133" cy="2121407"/>
            <a:chOff x="0" y="0"/>
            <a:chExt cx="9026843" cy="2828543"/>
          </a:xfrm>
        </p:grpSpPr>
        <p:sp>
          <p:nvSpPr>
            <p:cNvPr id="13" name="TextBox 13"/>
            <p:cNvSpPr txBox="1"/>
            <p:nvPr/>
          </p:nvSpPr>
          <p:spPr>
            <a:xfrm>
              <a:off x="0" y="-76200"/>
              <a:ext cx="2815511" cy="617220"/>
            </a:xfrm>
            <a:prstGeom prst="rect">
              <a:avLst/>
            </a:prstGeom>
          </p:spPr>
          <p:txBody>
            <a:bodyPr lIns="0" tIns="0" rIns="0" bIns="0" rtlCol="0" anchor="t">
              <a:spAutoFit/>
            </a:bodyPr>
            <a:lstStyle/>
            <a:p>
              <a:pPr algn="l">
                <a:lnSpc>
                  <a:spcPts val="3419"/>
                </a:lnSpc>
              </a:pPr>
              <a:r>
                <a:rPr lang="en-US" sz="2699" b="1" u="sng">
                  <a:solidFill>
                    <a:srgbClr val="161613"/>
                  </a:solidFill>
                  <a:latin typeface="Calibri (MS) Bold"/>
                  <a:ea typeface="Calibri (MS) Bold"/>
                  <a:cs typeface="Calibri (MS) Bold"/>
                  <a:sym typeface="Calibri (MS) Bold"/>
                </a:rPr>
                <a:t>Key Benefits</a:t>
              </a:r>
            </a:p>
          </p:txBody>
        </p:sp>
        <p:sp>
          <p:nvSpPr>
            <p:cNvPr id="14" name="TextBox 14"/>
            <p:cNvSpPr txBox="1"/>
            <p:nvPr/>
          </p:nvSpPr>
          <p:spPr>
            <a:xfrm>
              <a:off x="0" y="1092876"/>
              <a:ext cx="9026843" cy="1735667"/>
            </a:xfrm>
            <a:prstGeom prst="rect">
              <a:avLst/>
            </a:prstGeom>
          </p:spPr>
          <p:txBody>
            <a:bodyPr lIns="0" tIns="0" rIns="0" bIns="0" rtlCol="0" anchor="t">
              <a:spAutoFit/>
            </a:bodyPr>
            <a:lstStyle/>
            <a:p>
              <a:pPr marL="377030" lvl="1" indent="-188515" algn="l">
                <a:lnSpc>
                  <a:spcPts val="3437"/>
                </a:lnSpc>
                <a:buFont typeface="Arial"/>
                <a:buChar char="•"/>
              </a:pPr>
              <a:r>
                <a:rPr lang="en-US" sz="2499" dirty="0">
                  <a:solidFill>
                    <a:srgbClr val="161613"/>
                  </a:solidFill>
                  <a:latin typeface="Calibri (MS)"/>
                  <a:ea typeface="Calibri (MS)"/>
                  <a:cs typeface="Calibri (MS)"/>
                  <a:sym typeface="Calibri (MS)"/>
                </a:rPr>
                <a:t>Reduces driver fatigue on long drives</a:t>
              </a:r>
            </a:p>
            <a:p>
              <a:pPr marL="377030" lvl="1" indent="-188515" algn="l">
                <a:lnSpc>
                  <a:spcPts val="3437"/>
                </a:lnSpc>
                <a:buFont typeface="Arial"/>
                <a:buChar char="•"/>
              </a:pPr>
              <a:r>
                <a:rPr lang="en-US" sz="2499" dirty="0">
                  <a:solidFill>
                    <a:srgbClr val="161613"/>
                  </a:solidFill>
                  <a:latin typeface="Calibri (MS)"/>
                  <a:ea typeface="Calibri (MS)"/>
                  <a:cs typeface="Calibri (MS)"/>
                  <a:sym typeface="Calibri (MS)"/>
                </a:rPr>
                <a:t>Improves highway driving comfort</a:t>
              </a:r>
            </a:p>
            <a:p>
              <a:pPr marL="377030" lvl="1" indent="-188515" algn="l">
                <a:lnSpc>
                  <a:spcPts val="3437"/>
                </a:lnSpc>
                <a:buFont typeface="Arial"/>
                <a:buChar char="•"/>
              </a:pPr>
              <a:r>
                <a:rPr lang="en-US" sz="2499" dirty="0">
                  <a:solidFill>
                    <a:srgbClr val="161613"/>
                  </a:solidFill>
                  <a:latin typeface="Calibri (MS)"/>
                  <a:ea typeface="Calibri (MS)"/>
                  <a:cs typeface="Calibri (MS)"/>
                  <a:sym typeface="Calibri (MS)"/>
                </a:rPr>
                <a:t>Enhances safety through consistent spacing</a:t>
              </a:r>
            </a:p>
          </p:txBody>
        </p:sp>
      </p:grpSp>
      <p:sp>
        <p:nvSpPr>
          <p:cNvPr id="15" name="TextBox 15"/>
          <p:cNvSpPr txBox="1"/>
          <p:nvPr/>
        </p:nvSpPr>
        <p:spPr>
          <a:xfrm>
            <a:off x="1028700" y="297562"/>
            <a:ext cx="16502894" cy="789184"/>
          </a:xfrm>
          <a:prstGeom prst="rect">
            <a:avLst/>
          </a:prstGeom>
        </p:spPr>
        <p:txBody>
          <a:bodyPr lIns="0" tIns="0" rIns="0" bIns="0" rtlCol="0" anchor="t">
            <a:spAutoFit/>
          </a:bodyPr>
          <a:lstStyle/>
          <a:p>
            <a:pPr algn="ctr">
              <a:lnSpc>
                <a:spcPts val="6235"/>
              </a:lnSpc>
            </a:pPr>
            <a:r>
              <a:rPr lang="en-US" sz="5000" b="1" dirty="0">
                <a:solidFill>
                  <a:srgbClr val="161613"/>
                </a:solidFill>
                <a:latin typeface="Calibri (MS) Bold" panose="020B0604020202020204" charset="0"/>
                <a:ea typeface="DM Sans Bold"/>
                <a:cs typeface="Calibri (MS) Bold" panose="020B0604020202020204" charset="0"/>
                <a:sym typeface="DM Sans Bold"/>
              </a:rPr>
              <a:t>Adaptive Cruise Control (ACC)</a:t>
            </a:r>
          </a:p>
        </p:txBody>
      </p:sp>
      <p:sp>
        <p:nvSpPr>
          <p:cNvPr id="16" name="TextBox 16"/>
          <p:cNvSpPr txBox="1"/>
          <p:nvPr/>
        </p:nvSpPr>
        <p:spPr>
          <a:xfrm>
            <a:off x="17460227" y="9929350"/>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272728">
                    <a:alpha val="47843"/>
                  </a:srgbClr>
                </a:solidFill>
                <a:latin typeface="Canva Sans"/>
                <a:ea typeface="Canva Sans"/>
                <a:cs typeface="Canva Sans"/>
                <a:sym typeface="Canva Sans"/>
              </a:rPr>
              <a:t>Page 5</a:t>
            </a:r>
          </a:p>
        </p:txBody>
      </p:sp>
      <p:sp>
        <p:nvSpPr>
          <p:cNvPr id="17" name="TextBox 17"/>
          <p:cNvSpPr txBox="1"/>
          <p:nvPr/>
        </p:nvSpPr>
        <p:spPr>
          <a:xfrm>
            <a:off x="9280147" y="7506842"/>
            <a:ext cx="8777377" cy="465258"/>
          </a:xfrm>
          <a:prstGeom prst="rect">
            <a:avLst/>
          </a:prstGeom>
        </p:spPr>
        <p:txBody>
          <a:bodyPr lIns="0" tIns="0" rIns="0" bIns="0" rtlCol="0" anchor="t">
            <a:spAutoFit/>
          </a:bodyPr>
          <a:lstStyle/>
          <a:p>
            <a:pPr algn="l">
              <a:lnSpc>
                <a:spcPts val="3499"/>
              </a:lnSpc>
            </a:pPr>
            <a:r>
              <a:rPr lang="en-US" sz="2545" dirty="0">
                <a:solidFill>
                  <a:srgbClr val="161613"/>
                </a:solidFill>
                <a:latin typeface="Calibri (MS)"/>
                <a:ea typeface="Calibri (MS)"/>
                <a:cs typeface="Calibri (MS)"/>
                <a:sym typeface="Calibri (MS)"/>
              </a:rPr>
              <a:t>ACC Technology is present in Tesla 3, Honda Accord, Toyota Camry</a:t>
            </a:r>
          </a:p>
        </p:txBody>
      </p:sp>
      <p:pic>
        <p:nvPicPr>
          <p:cNvPr id="18" name="AQPTysZvuhtDeUtHHOyVZ5-9soayo-P7Xg19wN40JrrIw2dP5eCQqlSr8nIgo9ZyzTUUqaYIEZ2Jxwf3HPtASUqA">
            <a:hlinkClick r:id="" action="ppaction://media"/>
            <a:extLst>
              <a:ext uri="{FF2B5EF4-FFF2-40B4-BE49-F238E27FC236}">
                <a16:creationId xmlns:a16="http://schemas.microsoft.com/office/drawing/2014/main" id="{343B8A2F-F7CA-8479-FD86-10E3E52ECFB8}"/>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9264907" y="2370950"/>
            <a:ext cx="8777376" cy="495921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6479"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8"/>
                </p:tgtEl>
              </p:cMediaNode>
            </p:video>
            <p:seq concurrent="1" nextAc="seek">
              <p:cTn id="8" restart="whenNotActive" fill="hold" evtFilter="cancelBubble" nodeType="interactiveSeq">
                <p:stCondLst>
                  <p:cond evt="onClick" delay="0">
                    <p:tgtEl>
                      <p:spTgt spid="1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8"/>
                                        </p:tgtEl>
                                      </p:cBhvr>
                                    </p:cmd>
                                  </p:childTnLst>
                                </p:cTn>
                              </p:par>
                            </p:childTnLst>
                          </p:cTn>
                        </p:par>
                      </p:childTnLst>
                    </p:cTn>
                  </p:par>
                </p:childTnLst>
              </p:cTn>
              <p:nextCondLst>
                <p:cond evt="onClick" delay="0">
                  <p:tgtEl>
                    <p:spTgt spid="18"/>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6E2DB"/>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9F8F5"/>
            </a:solidFill>
          </p:spPr>
        </p:sp>
      </p:grpSp>
      <p:grpSp>
        <p:nvGrpSpPr>
          <p:cNvPr id="6" name="Group 6"/>
          <p:cNvGrpSpPr/>
          <p:nvPr/>
        </p:nvGrpSpPr>
        <p:grpSpPr>
          <a:xfrm>
            <a:off x="917051" y="3065412"/>
            <a:ext cx="5245446" cy="5261667"/>
            <a:chOff x="0" y="0"/>
            <a:chExt cx="6993928" cy="7015556"/>
          </a:xfrm>
        </p:grpSpPr>
        <p:sp>
          <p:nvSpPr>
            <p:cNvPr id="7" name="Freeform 7"/>
            <p:cNvSpPr/>
            <p:nvPr/>
          </p:nvSpPr>
          <p:spPr>
            <a:xfrm>
              <a:off x="0" y="0"/>
              <a:ext cx="6994017" cy="7015607"/>
            </a:xfrm>
            <a:custGeom>
              <a:avLst/>
              <a:gdLst/>
              <a:ahLst/>
              <a:cxnLst/>
              <a:rect l="l" t="t" r="r" b="b"/>
              <a:pathLst>
                <a:path w="6994017" h="7015607">
                  <a:moveTo>
                    <a:pt x="0" y="243840"/>
                  </a:moveTo>
                  <a:cubicBezTo>
                    <a:pt x="0" y="109220"/>
                    <a:pt x="109220" y="0"/>
                    <a:pt x="243840" y="0"/>
                  </a:cubicBezTo>
                  <a:lnTo>
                    <a:pt x="6750177" y="0"/>
                  </a:lnTo>
                  <a:cubicBezTo>
                    <a:pt x="6884797" y="0"/>
                    <a:pt x="6994017" y="109220"/>
                    <a:pt x="6994017" y="243840"/>
                  </a:cubicBezTo>
                  <a:lnTo>
                    <a:pt x="6994017" y="6771767"/>
                  </a:lnTo>
                  <a:cubicBezTo>
                    <a:pt x="6994017" y="6906387"/>
                    <a:pt x="6884797" y="7015607"/>
                    <a:pt x="6750177" y="7015607"/>
                  </a:cubicBezTo>
                  <a:lnTo>
                    <a:pt x="243840" y="7015607"/>
                  </a:lnTo>
                  <a:cubicBezTo>
                    <a:pt x="109220" y="7015607"/>
                    <a:pt x="0" y="6906387"/>
                    <a:pt x="0" y="6771767"/>
                  </a:cubicBezTo>
                  <a:close/>
                </a:path>
              </a:pathLst>
            </a:custGeom>
            <a:solidFill>
              <a:srgbClr val="F9F8F5"/>
            </a:solidFill>
          </p:spPr>
        </p:sp>
      </p:grpSp>
      <p:grpSp>
        <p:nvGrpSpPr>
          <p:cNvPr id="8" name="Group 8"/>
          <p:cNvGrpSpPr/>
          <p:nvPr/>
        </p:nvGrpSpPr>
        <p:grpSpPr>
          <a:xfrm>
            <a:off x="992238" y="3027312"/>
            <a:ext cx="5245446" cy="152400"/>
            <a:chOff x="0" y="0"/>
            <a:chExt cx="6993928" cy="203200"/>
          </a:xfrm>
        </p:grpSpPr>
        <p:sp>
          <p:nvSpPr>
            <p:cNvPr id="9" name="Freeform 9"/>
            <p:cNvSpPr/>
            <p:nvPr/>
          </p:nvSpPr>
          <p:spPr>
            <a:xfrm>
              <a:off x="0" y="0"/>
              <a:ext cx="6994017" cy="203327"/>
            </a:xfrm>
            <a:custGeom>
              <a:avLst/>
              <a:gdLst/>
              <a:ahLst/>
              <a:cxnLst/>
              <a:rect l="l" t="t" r="r" b="b"/>
              <a:pathLst>
                <a:path w="6994017" h="203327">
                  <a:moveTo>
                    <a:pt x="0" y="56769"/>
                  </a:moveTo>
                  <a:cubicBezTo>
                    <a:pt x="0" y="25400"/>
                    <a:pt x="25400" y="0"/>
                    <a:pt x="56769" y="0"/>
                  </a:cubicBezTo>
                  <a:lnTo>
                    <a:pt x="6937248" y="0"/>
                  </a:lnTo>
                  <a:cubicBezTo>
                    <a:pt x="6968617" y="0"/>
                    <a:pt x="6994017" y="25400"/>
                    <a:pt x="6994017" y="56769"/>
                  </a:cubicBezTo>
                  <a:lnTo>
                    <a:pt x="6994017" y="146558"/>
                  </a:lnTo>
                  <a:cubicBezTo>
                    <a:pt x="6994017" y="177927"/>
                    <a:pt x="6968617" y="203327"/>
                    <a:pt x="6937248" y="203327"/>
                  </a:cubicBezTo>
                  <a:lnTo>
                    <a:pt x="56769" y="203327"/>
                  </a:lnTo>
                  <a:cubicBezTo>
                    <a:pt x="25400" y="203200"/>
                    <a:pt x="0" y="177800"/>
                    <a:pt x="0" y="146431"/>
                  </a:cubicBezTo>
                  <a:close/>
                </a:path>
              </a:pathLst>
            </a:custGeom>
            <a:solidFill>
              <a:srgbClr val="28282F"/>
            </a:solidFill>
          </p:spPr>
        </p:sp>
      </p:grpSp>
      <p:grpSp>
        <p:nvGrpSpPr>
          <p:cNvPr id="10" name="Group 10"/>
          <p:cNvGrpSpPr/>
          <p:nvPr/>
        </p:nvGrpSpPr>
        <p:grpSpPr>
          <a:xfrm>
            <a:off x="3189608" y="2640216"/>
            <a:ext cx="850554" cy="850554"/>
            <a:chOff x="0" y="0"/>
            <a:chExt cx="1134072" cy="1134072"/>
          </a:xfrm>
        </p:grpSpPr>
        <p:sp>
          <p:nvSpPr>
            <p:cNvPr id="11" name="Freeform 11"/>
            <p:cNvSpPr/>
            <p:nvPr/>
          </p:nvSpPr>
          <p:spPr>
            <a:xfrm>
              <a:off x="0" y="0"/>
              <a:ext cx="1134110" cy="1134110"/>
            </a:xfrm>
            <a:custGeom>
              <a:avLst/>
              <a:gdLst/>
              <a:ahLst/>
              <a:cxnLst/>
              <a:rect l="l" t="t" r="r" b="b"/>
              <a:pathLst>
                <a:path w="1134110" h="1134110">
                  <a:moveTo>
                    <a:pt x="0" y="567055"/>
                  </a:moveTo>
                  <a:cubicBezTo>
                    <a:pt x="0" y="253873"/>
                    <a:pt x="253873" y="0"/>
                    <a:pt x="567055" y="0"/>
                  </a:cubicBezTo>
                  <a:cubicBezTo>
                    <a:pt x="880237" y="0"/>
                    <a:pt x="1134110" y="253873"/>
                    <a:pt x="1134110" y="567055"/>
                  </a:cubicBezTo>
                  <a:cubicBezTo>
                    <a:pt x="1134110" y="880237"/>
                    <a:pt x="880237" y="1134110"/>
                    <a:pt x="567055" y="1134110"/>
                  </a:cubicBezTo>
                  <a:cubicBezTo>
                    <a:pt x="253873" y="1134110"/>
                    <a:pt x="0" y="880237"/>
                    <a:pt x="0" y="567055"/>
                  </a:cubicBezTo>
                  <a:close/>
                </a:path>
              </a:pathLst>
            </a:custGeom>
            <a:solidFill>
              <a:srgbClr val="28282F"/>
            </a:solidFill>
          </p:spPr>
        </p:sp>
      </p:grpSp>
      <p:sp>
        <p:nvSpPr>
          <p:cNvPr id="12" name="Freeform 12" descr="preencoded.png"/>
          <p:cNvSpPr/>
          <p:nvPr/>
        </p:nvSpPr>
        <p:spPr>
          <a:xfrm>
            <a:off x="3444697" y="2895305"/>
            <a:ext cx="340223" cy="340223"/>
          </a:xfrm>
          <a:custGeom>
            <a:avLst/>
            <a:gdLst/>
            <a:ahLst/>
            <a:cxnLst/>
            <a:rect l="l" t="t" r="r" b="b"/>
            <a:pathLst>
              <a:path w="340223" h="340223">
                <a:moveTo>
                  <a:pt x="0" y="0"/>
                </a:moveTo>
                <a:lnTo>
                  <a:pt x="340224" y="0"/>
                </a:lnTo>
                <a:lnTo>
                  <a:pt x="340224" y="340223"/>
                </a:lnTo>
                <a:lnTo>
                  <a:pt x="0" y="34022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3" name="TextBox 13"/>
          <p:cNvSpPr txBox="1"/>
          <p:nvPr/>
        </p:nvSpPr>
        <p:spPr>
          <a:xfrm>
            <a:off x="1313859" y="3697929"/>
            <a:ext cx="4602213" cy="487362"/>
          </a:xfrm>
          <a:prstGeom prst="rect">
            <a:avLst/>
          </a:prstGeom>
        </p:spPr>
        <p:txBody>
          <a:bodyPr lIns="0" tIns="0" rIns="0" bIns="0" rtlCol="0" anchor="t">
            <a:spAutoFit/>
          </a:bodyPr>
          <a:lstStyle/>
          <a:p>
            <a:pPr algn="l">
              <a:lnSpc>
                <a:spcPts val="3437"/>
              </a:lnSpc>
            </a:pPr>
            <a:r>
              <a:rPr lang="en-US" sz="2750">
                <a:solidFill>
                  <a:srgbClr val="161613"/>
                </a:solidFill>
                <a:latin typeface="Calibri (MS)"/>
                <a:ea typeface="Calibri (MS)"/>
                <a:cs typeface="Calibri (MS)"/>
                <a:sym typeface="Calibri (MS)"/>
              </a:rPr>
              <a:t>Traction Control System (TCS)</a:t>
            </a:r>
          </a:p>
        </p:txBody>
      </p:sp>
      <p:sp>
        <p:nvSpPr>
          <p:cNvPr id="14" name="TextBox 14"/>
          <p:cNvSpPr txBox="1"/>
          <p:nvPr/>
        </p:nvSpPr>
        <p:spPr>
          <a:xfrm>
            <a:off x="1313859" y="4430521"/>
            <a:ext cx="4602213" cy="3102429"/>
          </a:xfrm>
          <a:prstGeom prst="rect">
            <a:avLst/>
          </a:prstGeom>
        </p:spPr>
        <p:txBody>
          <a:bodyPr lIns="0" tIns="0" rIns="0" bIns="0" rtlCol="0" anchor="t">
            <a:spAutoFit/>
          </a:bodyPr>
          <a:lstStyle/>
          <a:p>
            <a:pPr algn="l">
              <a:lnSpc>
                <a:spcPts val="4071"/>
              </a:lnSpc>
            </a:pPr>
            <a:r>
              <a:rPr lang="en-US" sz="2499" dirty="0">
                <a:solidFill>
                  <a:srgbClr val="161613"/>
                </a:solidFill>
                <a:latin typeface="Calibri (MS)"/>
                <a:ea typeface="Calibri (MS)"/>
                <a:cs typeface="Calibri (MS)"/>
                <a:sym typeface="Calibri (MS)"/>
              </a:rPr>
              <a:t>Prevents wheel slip during acceleration by monitoring wheel rotation speeds and reducing engine power or applying brakes to slipping wheels. Improves grip on wet, icy, or loose surfaces.</a:t>
            </a:r>
          </a:p>
        </p:txBody>
      </p:sp>
      <p:grpSp>
        <p:nvGrpSpPr>
          <p:cNvPr id="15" name="Group 15"/>
          <p:cNvGrpSpPr/>
          <p:nvPr/>
        </p:nvGrpSpPr>
        <p:grpSpPr>
          <a:xfrm>
            <a:off x="6521206" y="3065412"/>
            <a:ext cx="5245446" cy="5261667"/>
            <a:chOff x="0" y="0"/>
            <a:chExt cx="6993928" cy="7015556"/>
          </a:xfrm>
        </p:grpSpPr>
        <p:sp>
          <p:nvSpPr>
            <p:cNvPr id="16" name="Freeform 16"/>
            <p:cNvSpPr/>
            <p:nvPr/>
          </p:nvSpPr>
          <p:spPr>
            <a:xfrm>
              <a:off x="0" y="0"/>
              <a:ext cx="6994017" cy="7015607"/>
            </a:xfrm>
            <a:custGeom>
              <a:avLst/>
              <a:gdLst/>
              <a:ahLst/>
              <a:cxnLst/>
              <a:rect l="l" t="t" r="r" b="b"/>
              <a:pathLst>
                <a:path w="6994017" h="7015607">
                  <a:moveTo>
                    <a:pt x="0" y="243840"/>
                  </a:moveTo>
                  <a:cubicBezTo>
                    <a:pt x="0" y="109220"/>
                    <a:pt x="109220" y="0"/>
                    <a:pt x="243840" y="0"/>
                  </a:cubicBezTo>
                  <a:lnTo>
                    <a:pt x="6750177" y="0"/>
                  </a:lnTo>
                  <a:cubicBezTo>
                    <a:pt x="6884797" y="0"/>
                    <a:pt x="6994017" y="109220"/>
                    <a:pt x="6994017" y="243840"/>
                  </a:cubicBezTo>
                  <a:lnTo>
                    <a:pt x="6994017" y="6771767"/>
                  </a:lnTo>
                  <a:cubicBezTo>
                    <a:pt x="6994017" y="6906387"/>
                    <a:pt x="6884797" y="7015607"/>
                    <a:pt x="6750177" y="7015607"/>
                  </a:cubicBezTo>
                  <a:lnTo>
                    <a:pt x="243840" y="7015607"/>
                  </a:lnTo>
                  <a:cubicBezTo>
                    <a:pt x="109220" y="7015607"/>
                    <a:pt x="0" y="6906387"/>
                    <a:pt x="0" y="6771767"/>
                  </a:cubicBezTo>
                  <a:close/>
                </a:path>
              </a:pathLst>
            </a:custGeom>
            <a:solidFill>
              <a:srgbClr val="F9F8F5"/>
            </a:solidFill>
          </p:spPr>
        </p:sp>
      </p:grpSp>
      <p:grpSp>
        <p:nvGrpSpPr>
          <p:cNvPr id="17" name="Group 17"/>
          <p:cNvGrpSpPr/>
          <p:nvPr/>
        </p:nvGrpSpPr>
        <p:grpSpPr>
          <a:xfrm>
            <a:off x="6521206" y="3027312"/>
            <a:ext cx="5245446" cy="152400"/>
            <a:chOff x="0" y="0"/>
            <a:chExt cx="6993928" cy="203200"/>
          </a:xfrm>
        </p:grpSpPr>
        <p:sp>
          <p:nvSpPr>
            <p:cNvPr id="18" name="Freeform 18"/>
            <p:cNvSpPr/>
            <p:nvPr/>
          </p:nvSpPr>
          <p:spPr>
            <a:xfrm>
              <a:off x="0" y="0"/>
              <a:ext cx="6994017" cy="203327"/>
            </a:xfrm>
            <a:custGeom>
              <a:avLst/>
              <a:gdLst/>
              <a:ahLst/>
              <a:cxnLst/>
              <a:rect l="l" t="t" r="r" b="b"/>
              <a:pathLst>
                <a:path w="6994017" h="203327">
                  <a:moveTo>
                    <a:pt x="0" y="56769"/>
                  </a:moveTo>
                  <a:cubicBezTo>
                    <a:pt x="0" y="25400"/>
                    <a:pt x="25400" y="0"/>
                    <a:pt x="56769" y="0"/>
                  </a:cubicBezTo>
                  <a:lnTo>
                    <a:pt x="6937248" y="0"/>
                  </a:lnTo>
                  <a:cubicBezTo>
                    <a:pt x="6968617" y="0"/>
                    <a:pt x="6994017" y="25400"/>
                    <a:pt x="6994017" y="56769"/>
                  </a:cubicBezTo>
                  <a:lnTo>
                    <a:pt x="6994017" y="146558"/>
                  </a:lnTo>
                  <a:cubicBezTo>
                    <a:pt x="6994017" y="177927"/>
                    <a:pt x="6968617" y="203327"/>
                    <a:pt x="6937248" y="203327"/>
                  </a:cubicBezTo>
                  <a:lnTo>
                    <a:pt x="56769" y="203327"/>
                  </a:lnTo>
                  <a:cubicBezTo>
                    <a:pt x="25400" y="203200"/>
                    <a:pt x="0" y="177800"/>
                    <a:pt x="0" y="146431"/>
                  </a:cubicBezTo>
                  <a:close/>
                </a:path>
              </a:pathLst>
            </a:custGeom>
            <a:solidFill>
              <a:srgbClr val="28282F"/>
            </a:solidFill>
          </p:spPr>
        </p:sp>
      </p:grpSp>
      <p:grpSp>
        <p:nvGrpSpPr>
          <p:cNvPr id="19" name="Group 19"/>
          <p:cNvGrpSpPr/>
          <p:nvPr/>
        </p:nvGrpSpPr>
        <p:grpSpPr>
          <a:xfrm>
            <a:off x="8718575" y="2640216"/>
            <a:ext cx="850554" cy="850554"/>
            <a:chOff x="0" y="0"/>
            <a:chExt cx="1134072" cy="1134072"/>
          </a:xfrm>
        </p:grpSpPr>
        <p:sp>
          <p:nvSpPr>
            <p:cNvPr id="20" name="Freeform 20"/>
            <p:cNvSpPr/>
            <p:nvPr/>
          </p:nvSpPr>
          <p:spPr>
            <a:xfrm>
              <a:off x="0" y="0"/>
              <a:ext cx="1134110" cy="1134110"/>
            </a:xfrm>
            <a:custGeom>
              <a:avLst/>
              <a:gdLst/>
              <a:ahLst/>
              <a:cxnLst/>
              <a:rect l="l" t="t" r="r" b="b"/>
              <a:pathLst>
                <a:path w="1134110" h="1134110">
                  <a:moveTo>
                    <a:pt x="0" y="567055"/>
                  </a:moveTo>
                  <a:cubicBezTo>
                    <a:pt x="0" y="253873"/>
                    <a:pt x="253873" y="0"/>
                    <a:pt x="567055" y="0"/>
                  </a:cubicBezTo>
                  <a:cubicBezTo>
                    <a:pt x="880237" y="0"/>
                    <a:pt x="1134110" y="253873"/>
                    <a:pt x="1134110" y="567055"/>
                  </a:cubicBezTo>
                  <a:cubicBezTo>
                    <a:pt x="1134110" y="880237"/>
                    <a:pt x="880237" y="1134110"/>
                    <a:pt x="567055" y="1134110"/>
                  </a:cubicBezTo>
                  <a:cubicBezTo>
                    <a:pt x="253873" y="1134110"/>
                    <a:pt x="0" y="880237"/>
                    <a:pt x="0" y="567055"/>
                  </a:cubicBezTo>
                  <a:close/>
                </a:path>
              </a:pathLst>
            </a:custGeom>
            <a:solidFill>
              <a:srgbClr val="28282F"/>
            </a:solidFill>
          </p:spPr>
        </p:sp>
      </p:grpSp>
      <p:sp>
        <p:nvSpPr>
          <p:cNvPr id="21" name="Freeform 21" descr="preencoded.png"/>
          <p:cNvSpPr/>
          <p:nvPr/>
        </p:nvSpPr>
        <p:spPr>
          <a:xfrm>
            <a:off x="8973664" y="2895305"/>
            <a:ext cx="340223" cy="340223"/>
          </a:xfrm>
          <a:custGeom>
            <a:avLst/>
            <a:gdLst/>
            <a:ahLst/>
            <a:cxnLst/>
            <a:rect l="l" t="t" r="r" b="b"/>
            <a:pathLst>
              <a:path w="340223" h="340223">
                <a:moveTo>
                  <a:pt x="0" y="0"/>
                </a:moveTo>
                <a:lnTo>
                  <a:pt x="340224" y="0"/>
                </a:lnTo>
                <a:lnTo>
                  <a:pt x="340224" y="340223"/>
                </a:lnTo>
                <a:lnTo>
                  <a:pt x="0" y="340223"/>
                </a:lnTo>
                <a:lnTo>
                  <a:pt x="0" y="0"/>
                </a:lnTo>
                <a:close/>
              </a:path>
            </a:pathLst>
          </a:custGeom>
          <a:blipFill>
            <a:blip r:embed="rId5">
              <a:extLst>
                <a:ext uri="{96DAC541-7B7A-43D3-8B79-37D633B846F1}">
                  <asvg:svgBlip xmlns:asvg="http://schemas.microsoft.com/office/drawing/2016/SVG/main" r:embed="rId6"/>
                </a:ext>
              </a:extLst>
            </a:blip>
            <a:stretch>
              <a:fillRect l="-2777" r="-2777"/>
            </a:stretch>
          </a:blipFill>
        </p:spPr>
      </p:sp>
      <p:sp>
        <p:nvSpPr>
          <p:cNvPr id="22" name="TextBox 22"/>
          <p:cNvSpPr txBox="1"/>
          <p:nvPr/>
        </p:nvSpPr>
        <p:spPr>
          <a:xfrm>
            <a:off x="6842817" y="3697929"/>
            <a:ext cx="4602213" cy="487362"/>
          </a:xfrm>
          <a:prstGeom prst="rect">
            <a:avLst/>
          </a:prstGeom>
        </p:spPr>
        <p:txBody>
          <a:bodyPr lIns="0" tIns="0" rIns="0" bIns="0" rtlCol="0" anchor="t">
            <a:spAutoFit/>
          </a:bodyPr>
          <a:lstStyle/>
          <a:p>
            <a:pPr algn="l">
              <a:lnSpc>
                <a:spcPts val="3437"/>
              </a:lnSpc>
            </a:pPr>
            <a:r>
              <a:rPr lang="en-US" sz="2750">
                <a:solidFill>
                  <a:srgbClr val="161613"/>
                </a:solidFill>
                <a:latin typeface="Calibri (MS)"/>
                <a:ea typeface="Calibri (MS)"/>
                <a:cs typeface="Calibri (MS)"/>
                <a:sym typeface="Calibri (MS)"/>
              </a:rPr>
              <a:t>Electronic Stability Control (ESC)</a:t>
            </a:r>
          </a:p>
        </p:txBody>
      </p:sp>
      <p:sp>
        <p:nvSpPr>
          <p:cNvPr id="23" name="TextBox 23"/>
          <p:cNvSpPr txBox="1"/>
          <p:nvPr/>
        </p:nvSpPr>
        <p:spPr>
          <a:xfrm>
            <a:off x="6831721" y="4430521"/>
            <a:ext cx="4602213" cy="3616779"/>
          </a:xfrm>
          <a:prstGeom prst="rect">
            <a:avLst/>
          </a:prstGeom>
        </p:spPr>
        <p:txBody>
          <a:bodyPr lIns="0" tIns="0" rIns="0" bIns="0" rtlCol="0" anchor="t">
            <a:spAutoFit/>
          </a:bodyPr>
          <a:lstStyle/>
          <a:p>
            <a:pPr algn="l">
              <a:lnSpc>
                <a:spcPts val="4071"/>
              </a:lnSpc>
            </a:pPr>
            <a:r>
              <a:rPr lang="en-US" sz="2499" dirty="0">
                <a:solidFill>
                  <a:srgbClr val="161613"/>
                </a:solidFill>
                <a:latin typeface="Calibri (MS)"/>
                <a:ea typeface="Calibri (MS)"/>
                <a:cs typeface="Calibri (MS)"/>
                <a:sym typeface="Calibri (MS)"/>
              </a:rPr>
              <a:t>Prevents vehicle skidding and loss of control by detecting oversteer or understeer conditions. Automatically applies brakes to individual wheels and adjusts engine power to maintain directional stability.</a:t>
            </a:r>
          </a:p>
        </p:txBody>
      </p:sp>
      <p:grpSp>
        <p:nvGrpSpPr>
          <p:cNvPr id="24" name="Group 24"/>
          <p:cNvGrpSpPr/>
          <p:nvPr/>
        </p:nvGrpSpPr>
        <p:grpSpPr>
          <a:xfrm>
            <a:off x="12050163" y="3065412"/>
            <a:ext cx="5245446" cy="5261667"/>
            <a:chOff x="0" y="0"/>
            <a:chExt cx="6993928" cy="7015556"/>
          </a:xfrm>
        </p:grpSpPr>
        <p:sp>
          <p:nvSpPr>
            <p:cNvPr id="25" name="Freeform 25"/>
            <p:cNvSpPr/>
            <p:nvPr/>
          </p:nvSpPr>
          <p:spPr>
            <a:xfrm>
              <a:off x="0" y="0"/>
              <a:ext cx="6994017" cy="7015607"/>
            </a:xfrm>
            <a:custGeom>
              <a:avLst/>
              <a:gdLst/>
              <a:ahLst/>
              <a:cxnLst/>
              <a:rect l="l" t="t" r="r" b="b"/>
              <a:pathLst>
                <a:path w="6994017" h="7015607">
                  <a:moveTo>
                    <a:pt x="0" y="243840"/>
                  </a:moveTo>
                  <a:cubicBezTo>
                    <a:pt x="0" y="109220"/>
                    <a:pt x="109220" y="0"/>
                    <a:pt x="243840" y="0"/>
                  </a:cubicBezTo>
                  <a:lnTo>
                    <a:pt x="6750177" y="0"/>
                  </a:lnTo>
                  <a:cubicBezTo>
                    <a:pt x="6884797" y="0"/>
                    <a:pt x="6994017" y="109220"/>
                    <a:pt x="6994017" y="243840"/>
                  </a:cubicBezTo>
                  <a:lnTo>
                    <a:pt x="6994017" y="6771767"/>
                  </a:lnTo>
                  <a:cubicBezTo>
                    <a:pt x="6994017" y="6906387"/>
                    <a:pt x="6884797" y="7015607"/>
                    <a:pt x="6750177" y="7015607"/>
                  </a:cubicBezTo>
                  <a:lnTo>
                    <a:pt x="243840" y="7015607"/>
                  </a:lnTo>
                  <a:cubicBezTo>
                    <a:pt x="109220" y="7015607"/>
                    <a:pt x="0" y="6906387"/>
                    <a:pt x="0" y="6771767"/>
                  </a:cubicBezTo>
                  <a:close/>
                </a:path>
              </a:pathLst>
            </a:custGeom>
            <a:solidFill>
              <a:srgbClr val="F9F8F5"/>
            </a:solidFill>
          </p:spPr>
        </p:sp>
      </p:grpSp>
      <p:grpSp>
        <p:nvGrpSpPr>
          <p:cNvPr id="26" name="Group 26"/>
          <p:cNvGrpSpPr/>
          <p:nvPr/>
        </p:nvGrpSpPr>
        <p:grpSpPr>
          <a:xfrm>
            <a:off x="12050163" y="3027312"/>
            <a:ext cx="5245446" cy="152400"/>
            <a:chOff x="0" y="0"/>
            <a:chExt cx="6993928" cy="203200"/>
          </a:xfrm>
        </p:grpSpPr>
        <p:sp>
          <p:nvSpPr>
            <p:cNvPr id="27" name="Freeform 27"/>
            <p:cNvSpPr/>
            <p:nvPr/>
          </p:nvSpPr>
          <p:spPr>
            <a:xfrm>
              <a:off x="0" y="0"/>
              <a:ext cx="6994017" cy="203327"/>
            </a:xfrm>
            <a:custGeom>
              <a:avLst/>
              <a:gdLst/>
              <a:ahLst/>
              <a:cxnLst/>
              <a:rect l="l" t="t" r="r" b="b"/>
              <a:pathLst>
                <a:path w="6994017" h="203327">
                  <a:moveTo>
                    <a:pt x="0" y="56769"/>
                  </a:moveTo>
                  <a:cubicBezTo>
                    <a:pt x="0" y="25400"/>
                    <a:pt x="25400" y="0"/>
                    <a:pt x="56769" y="0"/>
                  </a:cubicBezTo>
                  <a:lnTo>
                    <a:pt x="6937248" y="0"/>
                  </a:lnTo>
                  <a:cubicBezTo>
                    <a:pt x="6968617" y="0"/>
                    <a:pt x="6994017" y="25400"/>
                    <a:pt x="6994017" y="56769"/>
                  </a:cubicBezTo>
                  <a:lnTo>
                    <a:pt x="6994017" y="146558"/>
                  </a:lnTo>
                  <a:cubicBezTo>
                    <a:pt x="6994017" y="177927"/>
                    <a:pt x="6968617" y="203327"/>
                    <a:pt x="6937248" y="203327"/>
                  </a:cubicBezTo>
                  <a:lnTo>
                    <a:pt x="56769" y="203327"/>
                  </a:lnTo>
                  <a:cubicBezTo>
                    <a:pt x="25400" y="203200"/>
                    <a:pt x="0" y="177800"/>
                    <a:pt x="0" y="146431"/>
                  </a:cubicBezTo>
                  <a:close/>
                </a:path>
              </a:pathLst>
            </a:custGeom>
            <a:solidFill>
              <a:srgbClr val="28282F"/>
            </a:solidFill>
          </p:spPr>
        </p:sp>
      </p:grpSp>
      <p:grpSp>
        <p:nvGrpSpPr>
          <p:cNvPr id="28" name="Group 28"/>
          <p:cNvGrpSpPr/>
          <p:nvPr/>
        </p:nvGrpSpPr>
        <p:grpSpPr>
          <a:xfrm>
            <a:off x="14247543" y="2640216"/>
            <a:ext cx="850554" cy="850554"/>
            <a:chOff x="0" y="0"/>
            <a:chExt cx="1134072" cy="1134072"/>
          </a:xfrm>
        </p:grpSpPr>
        <p:sp>
          <p:nvSpPr>
            <p:cNvPr id="29" name="Freeform 29"/>
            <p:cNvSpPr/>
            <p:nvPr/>
          </p:nvSpPr>
          <p:spPr>
            <a:xfrm>
              <a:off x="0" y="0"/>
              <a:ext cx="1134110" cy="1134110"/>
            </a:xfrm>
            <a:custGeom>
              <a:avLst/>
              <a:gdLst/>
              <a:ahLst/>
              <a:cxnLst/>
              <a:rect l="l" t="t" r="r" b="b"/>
              <a:pathLst>
                <a:path w="1134110" h="1134110">
                  <a:moveTo>
                    <a:pt x="0" y="567055"/>
                  </a:moveTo>
                  <a:cubicBezTo>
                    <a:pt x="0" y="253873"/>
                    <a:pt x="253873" y="0"/>
                    <a:pt x="567055" y="0"/>
                  </a:cubicBezTo>
                  <a:cubicBezTo>
                    <a:pt x="880237" y="0"/>
                    <a:pt x="1134110" y="253873"/>
                    <a:pt x="1134110" y="567055"/>
                  </a:cubicBezTo>
                  <a:cubicBezTo>
                    <a:pt x="1134110" y="880237"/>
                    <a:pt x="880237" y="1134110"/>
                    <a:pt x="567055" y="1134110"/>
                  </a:cubicBezTo>
                  <a:cubicBezTo>
                    <a:pt x="253873" y="1134110"/>
                    <a:pt x="0" y="880237"/>
                    <a:pt x="0" y="567055"/>
                  </a:cubicBezTo>
                  <a:close/>
                </a:path>
              </a:pathLst>
            </a:custGeom>
            <a:solidFill>
              <a:srgbClr val="28282F"/>
            </a:solidFill>
          </p:spPr>
        </p:sp>
      </p:grpSp>
      <p:sp>
        <p:nvSpPr>
          <p:cNvPr id="30" name="Freeform 30" descr="preencoded.png"/>
          <p:cNvSpPr/>
          <p:nvPr/>
        </p:nvSpPr>
        <p:spPr>
          <a:xfrm>
            <a:off x="14502632" y="2895305"/>
            <a:ext cx="340223" cy="340223"/>
          </a:xfrm>
          <a:custGeom>
            <a:avLst/>
            <a:gdLst/>
            <a:ahLst/>
            <a:cxnLst/>
            <a:rect l="l" t="t" r="r" b="b"/>
            <a:pathLst>
              <a:path w="340223" h="340223">
                <a:moveTo>
                  <a:pt x="0" y="0"/>
                </a:moveTo>
                <a:lnTo>
                  <a:pt x="340223" y="0"/>
                </a:lnTo>
                <a:lnTo>
                  <a:pt x="340223" y="340223"/>
                </a:lnTo>
                <a:lnTo>
                  <a:pt x="0" y="340223"/>
                </a:lnTo>
                <a:lnTo>
                  <a:pt x="0" y="0"/>
                </a:lnTo>
                <a:close/>
              </a:path>
            </a:pathLst>
          </a:custGeom>
          <a:blipFill>
            <a:blip r:embed="rId7">
              <a:extLst>
                <a:ext uri="{96DAC541-7B7A-43D3-8B79-37D633B846F1}">
                  <asvg:svgBlip xmlns:asvg="http://schemas.microsoft.com/office/drawing/2016/SVG/main" r:embed="rId8"/>
                </a:ext>
              </a:extLst>
            </a:blip>
            <a:stretch>
              <a:fillRect l="-2777" r="-2777"/>
            </a:stretch>
          </a:blipFill>
        </p:spPr>
      </p:sp>
      <p:sp>
        <p:nvSpPr>
          <p:cNvPr id="31" name="TextBox 31"/>
          <p:cNvSpPr txBox="1"/>
          <p:nvPr/>
        </p:nvSpPr>
        <p:spPr>
          <a:xfrm>
            <a:off x="12371784" y="3697929"/>
            <a:ext cx="3279279" cy="487362"/>
          </a:xfrm>
          <a:prstGeom prst="rect">
            <a:avLst/>
          </a:prstGeom>
        </p:spPr>
        <p:txBody>
          <a:bodyPr lIns="0" tIns="0" rIns="0" bIns="0" rtlCol="0" anchor="t">
            <a:spAutoFit/>
          </a:bodyPr>
          <a:lstStyle/>
          <a:p>
            <a:pPr algn="l">
              <a:lnSpc>
                <a:spcPts val="3437"/>
              </a:lnSpc>
            </a:pPr>
            <a:r>
              <a:rPr lang="en-US" sz="2750">
                <a:solidFill>
                  <a:srgbClr val="161613"/>
                </a:solidFill>
                <a:latin typeface="Calibri (MS)"/>
                <a:ea typeface="Calibri (MS)"/>
                <a:cs typeface="Calibri (MS)"/>
                <a:sym typeface="Calibri (MS)"/>
              </a:rPr>
              <a:t>Crosswind Stabilization</a:t>
            </a:r>
          </a:p>
        </p:txBody>
      </p:sp>
      <p:sp>
        <p:nvSpPr>
          <p:cNvPr id="32" name="TextBox 32"/>
          <p:cNvSpPr txBox="1"/>
          <p:nvPr/>
        </p:nvSpPr>
        <p:spPr>
          <a:xfrm>
            <a:off x="12371784" y="4430521"/>
            <a:ext cx="4602213" cy="3102429"/>
          </a:xfrm>
          <a:prstGeom prst="rect">
            <a:avLst/>
          </a:prstGeom>
        </p:spPr>
        <p:txBody>
          <a:bodyPr lIns="0" tIns="0" rIns="0" bIns="0" rtlCol="0" anchor="t">
            <a:spAutoFit/>
          </a:bodyPr>
          <a:lstStyle/>
          <a:p>
            <a:pPr algn="l">
              <a:lnSpc>
                <a:spcPts val="4071"/>
              </a:lnSpc>
            </a:pPr>
            <a:r>
              <a:rPr lang="en-US" sz="2499" dirty="0">
                <a:solidFill>
                  <a:srgbClr val="161613"/>
                </a:solidFill>
                <a:latin typeface="Calibri (MS)"/>
                <a:ea typeface="Calibri (MS)"/>
                <a:cs typeface="Calibri (MS)"/>
                <a:sym typeface="Calibri (MS)"/>
              </a:rPr>
              <a:t>Detects strong side winds using sensors and compensates by applying selective braking to wheels on the windward side. Maintains vehicle trajectory and reduces driver correction effort.</a:t>
            </a:r>
          </a:p>
        </p:txBody>
      </p:sp>
      <p:sp>
        <p:nvSpPr>
          <p:cNvPr id="33" name="TextBox 33"/>
          <p:cNvSpPr txBox="1"/>
          <p:nvPr/>
        </p:nvSpPr>
        <p:spPr>
          <a:xfrm>
            <a:off x="992238" y="8493623"/>
            <a:ext cx="16303523" cy="1004699"/>
          </a:xfrm>
          <a:prstGeom prst="rect">
            <a:avLst/>
          </a:prstGeom>
        </p:spPr>
        <p:txBody>
          <a:bodyPr lIns="0" tIns="0" rIns="0" bIns="0" rtlCol="0" anchor="t">
            <a:spAutoFit/>
          </a:bodyPr>
          <a:lstStyle/>
          <a:p>
            <a:pPr algn="l">
              <a:lnSpc>
                <a:spcPts val="4069"/>
              </a:lnSpc>
            </a:pPr>
            <a:r>
              <a:rPr lang="en-US" sz="2499" b="1" dirty="0">
                <a:solidFill>
                  <a:srgbClr val="161613"/>
                </a:solidFill>
                <a:latin typeface="Calibri (MS) Bold"/>
                <a:ea typeface="Calibri (MS) Bold"/>
                <a:cs typeface="Calibri (MS) Bold"/>
                <a:sym typeface="Calibri (MS) Bold"/>
              </a:rPr>
              <a:t>Result:</a:t>
            </a:r>
            <a:r>
              <a:rPr lang="en-US" sz="2499" dirty="0">
                <a:solidFill>
                  <a:srgbClr val="161613"/>
                </a:solidFill>
                <a:latin typeface="Calibri (MS)"/>
                <a:ea typeface="Calibri (MS)"/>
                <a:cs typeface="Calibri (MS)"/>
                <a:sym typeface="Calibri (MS)"/>
              </a:rPr>
              <a:t> </a:t>
            </a:r>
            <a:r>
              <a:rPr lang="en-US" sz="2499" dirty="0">
                <a:solidFill>
                  <a:srgbClr val="28282F"/>
                </a:solidFill>
                <a:latin typeface="Calibri (MS)"/>
                <a:ea typeface="Calibri (MS)"/>
                <a:cs typeface="Calibri (MS)"/>
                <a:sym typeface="Calibri (MS)"/>
              </a:rPr>
              <a:t>Significantly improves vehicle control</a:t>
            </a:r>
            <a:r>
              <a:rPr lang="en-US" sz="2499" dirty="0">
                <a:solidFill>
                  <a:srgbClr val="161613"/>
                </a:solidFill>
                <a:latin typeface="Calibri (MS)"/>
                <a:ea typeface="Calibri (MS)"/>
                <a:cs typeface="Calibri (MS)"/>
                <a:sym typeface="Calibri (MS)"/>
              </a:rPr>
              <a:t> in challenging driving conditions, reducing accident risk.</a:t>
            </a:r>
          </a:p>
          <a:p>
            <a:pPr algn="l">
              <a:lnSpc>
                <a:spcPts val="4071"/>
              </a:lnSpc>
            </a:pPr>
            <a:r>
              <a:rPr lang="en-US" sz="2499" dirty="0">
                <a:solidFill>
                  <a:srgbClr val="161613"/>
                </a:solidFill>
                <a:latin typeface="Calibri (MS)"/>
                <a:ea typeface="Calibri (MS)"/>
                <a:cs typeface="Calibri (MS)"/>
                <a:sym typeface="Calibri (MS)"/>
              </a:rPr>
              <a:t>Some cars which include these ADAS mechanisms: BMW 3 Series, Mercedes Benz E-class, etc.</a:t>
            </a:r>
          </a:p>
        </p:txBody>
      </p:sp>
      <p:sp>
        <p:nvSpPr>
          <p:cNvPr id="34" name="TextBox 34"/>
          <p:cNvSpPr txBox="1"/>
          <p:nvPr/>
        </p:nvSpPr>
        <p:spPr>
          <a:xfrm>
            <a:off x="892328" y="487690"/>
            <a:ext cx="16502894" cy="893959"/>
          </a:xfrm>
          <a:prstGeom prst="rect">
            <a:avLst/>
          </a:prstGeom>
        </p:spPr>
        <p:txBody>
          <a:bodyPr lIns="0" tIns="0" rIns="0" bIns="0" rtlCol="0" anchor="t">
            <a:spAutoFit/>
          </a:bodyPr>
          <a:lstStyle/>
          <a:p>
            <a:pPr algn="ctr">
              <a:lnSpc>
                <a:spcPts val="6235"/>
              </a:lnSpc>
            </a:pPr>
            <a:r>
              <a:rPr lang="en-US" sz="5000" b="1" dirty="0">
                <a:solidFill>
                  <a:srgbClr val="161613"/>
                </a:solidFill>
                <a:latin typeface="Calibri (MS) Bold"/>
                <a:ea typeface="Calibri (MS) Bold"/>
                <a:cs typeface="Calibri (MS) Bold"/>
                <a:sym typeface="Calibri (MS) Bold"/>
              </a:rPr>
              <a:t>Stability &amp; Traction Control Systems</a:t>
            </a:r>
          </a:p>
        </p:txBody>
      </p:sp>
      <p:sp>
        <p:nvSpPr>
          <p:cNvPr id="35" name="TextBox 35"/>
          <p:cNvSpPr txBox="1"/>
          <p:nvPr/>
        </p:nvSpPr>
        <p:spPr>
          <a:xfrm>
            <a:off x="17460227" y="9929350"/>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272728">
                    <a:alpha val="47843"/>
                  </a:srgbClr>
                </a:solidFill>
                <a:latin typeface="Canva Sans"/>
                <a:ea typeface="Canva Sans"/>
                <a:cs typeface="Canva Sans"/>
                <a:sym typeface="Canva Sans"/>
              </a:rPr>
              <a:t>Page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6E2DB"/>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9F8F5"/>
            </a:solidFill>
          </p:spPr>
        </p:sp>
      </p:grpSp>
      <p:grpSp>
        <p:nvGrpSpPr>
          <p:cNvPr id="8" name="Group 8"/>
          <p:cNvGrpSpPr/>
          <p:nvPr/>
        </p:nvGrpSpPr>
        <p:grpSpPr>
          <a:xfrm>
            <a:off x="8134548" y="2585975"/>
            <a:ext cx="9249025" cy="6906268"/>
            <a:chOff x="0" y="0"/>
            <a:chExt cx="12332033" cy="9208358"/>
          </a:xfrm>
        </p:grpSpPr>
        <p:sp>
          <p:nvSpPr>
            <p:cNvPr id="9" name="TextBox 9"/>
            <p:cNvSpPr txBox="1"/>
            <p:nvPr/>
          </p:nvSpPr>
          <p:spPr>
            <a:xfrm>
              <a:off x="0" y="-66675"/>
              <a:ext cx="4306684" cy="566208"/>
            </a:xfrm>
            <a:prstGeom prst="rect">
              <a:avLst/>
            </a:prstGeom>
          </p:spPr>
          <p:txBody>
            <a:bodyPr lIns="0" tIns="0" rIns="0" bIns="0" rtlCol="0" anchor="t">
              <a:spAutoFit/>
            </a:bodyPr>
            <a:lstStyle/>
            <a:p>
              <a:pPr marL="539750" lvl="1" indent="-269875" algn="l">
                <a:lnSpc>
                  <a:spcPts val="3124"/>
                </a:lnSpc>
                <a:buFont typeface="Arial"/>
                <a:buChar char="•"/>
              </a:pPr>
              <a:r>
                <a:rPr lang="en-US" sz="2499" b="1" u="sng">
                  <a:solidFill>
                    <a:srgbClr val="161613"/>
                  </a:solidFill>
                  <a:latin typeface="Calibri (MS) Bold"/>
                  <a:ea typeface="Calibri (MS) Bold"/>
                  <a:cs typeface="Calibri (MS) Bold"/>
                  <a:sym typeface="Calibri (MS) Bold"/>
                </a:rPr>
                <a:t>Parking Assist</a:t>
              </a:r>
            </a:p>
          </p:txBody>
        </p:sp>
        <p:sp>
          <p:nvSpPr>
            <p:cNvPr id="10" name="TextBox 10"/>
            <p:cNvSpPr txBox="1"/>
            <p:nvPr/>
          </p:nvSpPr>
          <p:spPr>
            <a:xfrm>
              <a:off x="757571" y="554499"/>
              <a:ext cx="11574462" cy="1936221"/>
            </a:xfrm>
            <a:prstGeom prst="rect">
              <a:avLst/>
            </a:prstGeom>
          </p:spPr>
          <p:txBody>
            <a:bodyPr lIns="0" tIns="0" rIns="0" bIns="0" rtlCol="0" anchor="t">
              <a:spAutoFit/>
            </a:bodyPr>
            <a:lstStyle/>
            <a:p>
              <a:pPr algn="l">
                <a:lnSpc>
                  <a:spcPts val="3828"/>
                </a:lnSpc>
              </a:pPr>
              <a:r>
                <a:rPr lang="en-US" sz="2499">
                  <a:solidFill>
                    <a:srgbClr val="161613"/>
                  </a:solidFill>
                  <a:latin typeface="Calibri (MS)"/>
                  <a:ea typeface="Calibri (MS)"/>
                  <a:cs typeface="Calibri (MS)"/>
                  <a:sym typeface="Calibri (MS)"/>
                </a:rPr>
                <a:t>Uses ultrasonic sensors and cameras to detect parking spaces and guide the driver through steering inputs. Automatically calculates optimal steering angles and provides visual and audible guidance.</a:t>
              </a:r>
            </a:p>
          </p:txBody>
        </p:sp>
        <p:sp>
          <p:nvSpPr>
            <p:cNvPr id="11" name="TextBox 11"/>
            <p:cNvSpPr txBox="1"/>
            <p:nvPr/>
          </p:nvSpPr>
          <p:spPr>
            <a:xfrm>
              <a:off x="0" y="3307633"/>
              <a:ext cx="4306684" cy="566208"/>
            </a:xfrm>
            <a:prstGeom prst="rect">
              <a:avLst/>
            </a:prstGeom>
          </p:spPr>
          <p:txBody>
            <a:bodyPr lIns="0" tIns="0" rIns="0" bIns="0" rtlCol="0" anchor="t">
              <a:spAutoFit/>
            </a:bodyPr>
            <a:lstStyle/>
            <a:p>
              <a:pPr marL="539750" lvl="1" indent="-269875" algn="l">
                <a:lnSpc>
                  <a:spcPts val="3124"/>
                </a:lnSpc>
                <a:buFont typeface="Arial"/>
                <a:buChar char="•"/>
              </a:pPr>
              <a:r>
                <a:rPr lang="en-US" sz="2499" b="1" u="sng">
                  <a:solidFill>
                    <a:srgbClr val="161613"/>
                  </a:solidFill>
                  <a:latin typeface="Calibri (MS) Bold"/>
                  <a:ea typeface="Calibri (MS) Bold"/>
                  <a:cs typeface="Calibri (MS) Bold"/>
                  <a:sym typeface="Calibri (MS) Bold"/>
                </a:rPr>
                <a:t>Rearview Camera</a:t>
              </a:r>
            </a:p>
          </p:txBody>
        </p:sp>
        <p:sp>
          <p:nvSpPr>
            <p:cNvPr id="12" name="TextBox 12"/>
            <p:cNvSpPr txBox="1"/>
            <p:nvPr/>
          </p:nvSpPr>
          <p:spPr>
            <a:xfrm>
              <a:off x="737635" y="3868999"/>
              <a:ext cx="11574462" cy="1936221"/>
            </a:xfrm>
            <a:prstGeom prst="rect">
              <a:avLst/>
            </a:prstGeom>
          </p:spPr>
          <p:txBody>
            <a:bodyPr lIns="0" tIns="0" rIns="0" bIns="0" rtlCol="0" anchor="t">
              <a:spAutoFit/>
            </a:bodyPr>
            <a:lstStyle/>
            <a:p>
              <a:pPr algn="l">
                <a:lnSpc>
                  <a:spcPts val="3828"/>
                </a:lnSpc>
              </a:pPr>
              <a:r>
                <a:rPr lang="en-US" sz="2499" dirty="0">
                  <a:solidFill>
                    <a:srgbClr val="161613"/>
                  </a:solidFill>
                  <a:latin typeface="Calibri (MS)"/>
                  <a:ea typeface="Calibri (MS)"/>
                  <a:cs typeface="Calibri (MS)"/>
                  <a:sym typeface="Calibri (MS)"/>
                </a:rPr>
                <a:t>Provides real-time video view behind the vehicle on the dashboard display. Essential for preventing reversing accidents and detecting obstacles, children, or pets in the path.</a:t>
              </a:r>
            </a:p>
          </p:txBody>
        </p:sp>
        <p:sp>
          <p:nvSpPr>
            <p:cNvPr id="13" name="TextBox 13"/>
            <p:cNvSpPr txBox="1"/>
            <p:nvPr/>
          </p:nvSpPr>
          <p:spPr>
            <a:xfrm>
              <a:off x="0" y="6627545"/>
              <a:ext cx="5511783" cy="566208"/>
            </a:xfrm>
            <a:prstGeom prst="rect">
              <a:avLst/>
            </a:prstGeom>
          </p:spPr>
          <p:txBody>
            <a:bodyPr lIns="0" tIns="0" rIns="0" bIns="0" rtlCol="0" anchor="t">
              <a:spAutoFit/>
            </a:bodyPr>
            <a:lstStyle/>
            <a:p>
              <a:pPr marL="539750" lvl="1" indent="-269875" algn="l">
                <a:lnSpc>
                  <a:spcPts val="3124"/>
                </a:lnSpc>
                <a:buFont typeface="Arial"/>
                <a:buChar char="•"/>
              </a:pPr>
              <a:r>
                <a:rPr lang="en-US" sz="2499" b="1" u="sng">
                  <a:solidFill>
                    <a:srgbClr val="161613"/>
                  </a:solidFill>
                  <a:latin typeface="Calibri (MS) Bold"/>
                  <a:ea typeface="Calibri (MS) Bold"/>
                  <a:cs typeface="Calibri (MS) Bold"/>
                  <a:sym typeface="Calibri (MS) Bold"/>
                </a:rPr>
                <a:t>Omniview Technology</a:t>
              </a:r>
            </a:p>
          </p:txBody>
        </p:sp>
        <p:sp>
          <p:nvSpPr>
            <p:cNvPr id="14" name="TextBox 14"/>
            <p:cNvSpPr txBox="1"/>
            <p:nvPr/>
          </p:nvSpPr>
          <p:spPr>
            <a:xfrm>
              <a:off x="757571" y="7272136"/>
              <a:ext cx="11574462" cy="1936221"/>
            </a:xfrm>
            <a:prstGeom prst="rect">
              <a:avLst/>
            </a:prstGeom>
          </p:spPr>
          <p:txBody>
            <a:bodyPr lIns="0" tIns="0" rIns="0" bIns="0" rtlCol="0" anchor="t">
              <a:spAutoFit/>
            </a:bodyPr>
            <a:lstStyle/>
            <a:p>
              <a:pPr algn="l">
                <a:lnSpc>
                  <a:spcPts val="3828"/>
                </a:lnSpc>
              </a:pPr>
              <a:r>
                <a:rPr lang="en-US" sz="2499" dirty="0">
                  <a:solidFill>
                    <a:srgbClr val="161613"/>
                  </a:solidFill>
                  <a:latin typeface="Calibri (MS)"/>
                  <a:ea typeface="Calibri (MS)"/>
                  <a:cs typeface="Calibri (MS)"/>
                  <a:sym typeface="Calibri (MS)"/>
                </a:rPr>
                <a:t>Combines feeds from multiple cameras around the vehicle to create a seamless 360-degree bird's-eye view. Shows vehicle position relative to obstacles from above, eliminating blind spots.</a:t>
              </a:r>
            </a:p>
          </p:txBody>
        </p:sp>
      </p:grpSp>
      <p:sp>
        <p:nvSpPr>
          <p:cNvPr id="15" name="TextBox 15"/>
          <p:cNvSpPr txBox="1"/>
          <p:nvPr/>
        </p:nvSpPr>
        <p:spPr>
          <a:xfrm>
            <a:off x="880679" y="360479"/>
            <a:ext cx="16502894" cy="893959"/>
          </a:xfrm>
          <a:prstGeom prst="rect">
            <a:avLst/>
          </a:prstGeom>
        </p:spPr>
        <p:txBody>
          <a:bodyPr lIns="0" tIns="0" rIns="0" bIns="0" rtlCol="0" anchor="t">
            <a:spAutoFit/>
          </a:bodyPr>
          <a:lstStyle/>
          <a:p>
            <a:pPr algn="ctr">
              <a:lnSpc>
                <a:spcPts val="6235"/>
              </a:lnSpc>
            </a:pPr>
            <a:r>
              <a:rPr lang="en-US" sz="5000" b="1" dirty="0">
                <a:solidFill>
                  <a:srgbClr val="161613"/>
                </a:solidFill>
                <a:latin typeface="Calibri (MS) Bold"/>
                <a:ea typeface="Calibri (MS) Bold"/>
                <a:cs typeface="Calibri (MS) Bold"/>
                <a:sym typeface="Calibri (MS) Bold"/>
              </a:rPr>
              <a:t>Parking Assistance Systems</a:t>
            </a:r>
          </a:p>
        </p:txBody>
      </p:sp>
      <p:sp>
        <p:nvSpPr>
          <p:cNvPr id="16" name="TextBox 16"/>
          <p:cNvSpPr txBox="1"/>
          <p:nvPr/>
        </p:nvSpPr>
        <p:spPr>
          <a:xfrm>
            <a:off x="7958002" y="1393762"/>
            <a:ext cx="8680847" cy="999728"/>
          </a:xfrm>
          <a:prstGeom prst="rect">
            <a:avLst/>
          </a:prstGeom>
        </p:spPr>
        <p:txBody>
          <a:bodyPr lIns="0" tIns="0" rIns="0" bIns="0" rtlCol="0" anchor="t">
            <a:spAutoFit/>
          </a:bodyPr>
          <a:lstStyle/>
          <a:p>
            <a:pPr algn="l">
              <a:lnSpc>
                <a:spcPts val="3828"/>
              </a:lnSpc>
            </a:pPr>
            <a:r>
              <a:rPr lang="en-US" sz="2499">
                <a:solidFill>
                  <a:srgbClr val="161613"/>
                </a:solidFill>
                <a:latin typeface="Calibri (MS)"/>
                <a:ea typeface="Calibri (MS)"/>
                <a:cs typeface="Calibri (MS)"/>
                <a:sym typeface="Calibri (MS)"/>
              </a:rPr>
              <a:t>By just a single press of a button, a car can get parked on its own without much human intervention.</a:t>
            </a:r>
          </a:p>
        </p:txBody>
      </p:sp>
      <p:sp>
        <p:nvSpPr>
          <p:cNvPr id="17" name="TextBox 17"/>
          <p:cNvSpPr txBox="1"/>
          <p:nvPr/>
        </p:nvSpPr>
        <p:spPr>
          <a:xfrm>
            <a:off x="17460227" y="9929350"/>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272728">
                    <a:alpha val="47843"/>
                  </a:srgbClr>
                </a:solidFill>
                <a:latin typeface="Canva Sans"/>
                <a:ea typeface="Canva Sans"/>
                <a:cs typeface="Canva Sans"/>
                <a:sym typeface="Canva Sans"/>
              </a:rPr>
              <a:t>Page 7</a:t>
            </a:r>
          </a:p>
        </p:txBody>
      </p:sp>
      <p:sp>
        <p:nvSpPr>
          <p:cNvPr id="18" name="TextBox 18"/>
          <p:cNvSpPr txBox="1"/>
          <p:nvPr/>
        </p:nvSpPr>
        <p:spPr>
          <a:xfrm>
            <a:off x="146545" y="9167763"/>
            <a:ext cx="7605603" cy="743793"/>
          </a:xfrm>
          <a:prstGeom prst="rect">
            <a:avLst/>
          </a:prstGeom>
        </p:spPr>
        <p:txBody>
          <a:bodyPr lIns="0" tIns="0" rIns="0" bIns="0" rtlCol="0" anchor="t">
            <a:spAutoFit/>
          </a:bodyPr>
          <a:lstStyle/>
          <a:p>
            <a:pPr algn="l">
              <a:lnSpc>
                <a:spcPts val="2874"/>
              </a:lnSpc>
            </a:pPr>
            <a:r>
              <a:rPr lang="en-US" sz="2499" dirty="0">
                <a:solidFill>
                  <a:srgbClr val="161613"/>
                </a:solidFill>
                <a:latin typeface="Calibri (MS)"/>
                <a:ea typeface="Calibri (MS)"/>
                <a:cs typeface="Calibri (MS)"/>
                <a:sym typeface="Calibri (MS)"/>
              </a:rPr>
              <a:t>Morris Garages, Ford Escape, Toyota Prius have Intelligent Parking Assistance systems present.</a:t>
            </a:r>
          </a:p>
        </p:txBody>
      </p:sp>
      <p:pic>
        <p:nvPicPr>
          <p:cNvPr id="19" name="videoplayback">
            <a:hlinkClick r:id="" action="ppaction://media"/>
            <a:extLst>
              <a:ext uri="{FF2B5EF4-FFF2-40B4-BE49-F238E27FC236}">
                <a16:creationId xmlns:a16="http://schemas.microsoft.com/office/drawing/2014/main" id="{E173818A-7408-2FC5-80F0-A030B28E6FF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276159" y="1893308"/>
            <a:ext cx="7492236" cy="650038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2779"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9"/>
                </p:tgtEl>
              </p:cMediaNode>
            </p:video>
            <p:seq concurrent="1" nextAc="seek">
              <p:cTn id="8" restart="whenNotActive" fill="hold" evtFilter="cancelBubble" nodeType="interactiveSeq">
                <p:stCondLst>
                  <p:cond evt="onClick" delay="0">
                    <p:tgtEl>
                      <p:spTgt spid="1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9"/>
                                        </p:tgtEl>
                                      </p:cBhvr>
                                    </p:cmd>
                                  </p:childTnLst>
                                </p:cTn>
                              </p:par>
                            </p:childTnLst>
                          </p:cTn>
                        </p:par>
                      </p:childTnLst>
                    </p:cTn>
                  </p:par>
                </p:childTnLst>
              </p:cTn>
              <p:nextCondLst>
                <p:cond evt="onClick" delay="0">
                  <p:tgtEl>
                    <p:spTgt spid="19"/>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6E2DB"/>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9F8F5"/>
            </a:solidFill>
          </p:spPr>
        </p:sp>
      </p:grpSp>
      <p:sp>
        <p:nvSpPr>
          <p:cNvPr id="6" name="TextBox 6"/>
          <p:cNvSpPr txBox="1"/>
          <p:nvPr/>
        </p:nvSpPr>
        <p:spPr>
          <a:xfrm>
            <a:off x="2213224" y="2129813"/>
            <a:ext cx="4765205" cy="468564"/>
          </a:xfrm>
          <a:prstGeom prst="rect">
            <a:avLst/>
          </a:prstGeom>
        </p:spPr>
        <p:txBody>
          <a:bodyPr lIns="0" tIns="0" rIns="0" bIns="0" rtlCol="0" anchor="t">
            <a:spAutoFit/>
          </a:bodyPr>
          <a:lstStyle/>
          <a:p>
            <a:pPr algn="l">
              <a:lnSpc>
                <a:spcPts val="3374"/>
              </a:lnSpc>
            </a:pPr>
            <a:r>
              <a:rPr lang="en-US" sz="2699" b="1" u="sng">
                <a:solidFill>
                  <a:srgbClr val="161613"/>
                </a:solidFill>
                <a:latin typeface="Calibri (MS) Bold"/>
                <a:ea typeface="Calibri (MS) Bold"/>
                <a:cs typeface="Calibri (MS) Bold"/>
                <a:sym typeface="Calibri (MS) Bold"/>
              </a:rPr>
              <a:t>Driver Emergency Stop Assist</a:t>
            </a:r>
          </a:p>
        </p:txBody>
      </p:sp>
      <p:sp>
        <p:nvSpPr>
          <p:cNvPr id="7" name="TextBox 7"/>
          <p:cNvSpPr txBox="1"/>
          <p:nvPr/>
        </p:nvSpPr>
        <p:spPr>
          <a:xfrm>
            <a:off x="892553" y="2775867"/>
            <a:ext cx="7158897" cy="5480283"/>
          </a:xfrm>
          <a:prstGeom prst="rect">
            <a:avLst/>
          </a:prstGeom>
        </p:spPr>
        <p:txBody>
          <a:bodyPr lIns="0" tIns="0" rIns="0" bIns="0" rtlCol="0" anchor="t">
            <a:spAutoFit/>
          </a:bodyPr>
          <a:lstStyle/>
          <a:p>
            <a:pPr marL="539749" lvl="1" indent="-269875" algn="l">
              <a:lnSpc>
                <a:spcPts val="3294"/>
              </a:lnSpc>
              <a:buFont typeface="Arial"/>
              <a:buChar char="•"/>
            </a:pPr>
            <a:r>
              <a:rPr lang="en-US" sz="2499" dirty="0">
                <a:solidFill>
                  <a:srgbClr val="161613"/>
                </a:solidFill>
                <a:latin typeface="Calibri (MS)"/>
                <a:ea typeface="Calibri (MS)"/>
                <a:cs typeface="Calibri (MS)"/>
                <a:sym typeface="Calibri (MS)"/>
              </a:rPr>
              <a:t>Driver Emergency Stop Assist facilitates emergency counteract measures if the driver falls asleep or does not perform any driving actions like pressing the accelerator or brake or moving the steering wheel after a long time - sending audio &amp; visual signals to alert the driver.</a:t>
            </a:r>
          </a:p>
          <a:p>
            <a:pPr algn="l">
              <a:lnSpc>
                <a:spcPts val="3294"/>
              </a:lnSpc>
            </a:pPr>
            <a:endParaRPr lang="en-US" sz="2499" dirty="0">
              <a:solidFill>
                <a:srgbClr val="161613"/>
              </a:solidFill>
              <a:latin typeface="Calibri (MS)"/>
              <a:ea typeface="Calibri (MS)"/>
              <a:cs typeface="Calibri (MS)"/>
              <a:sym typeface="Calibri (MS)"/>
            </a:endParaRPr>
          </a:p>
          <a:p>
            <a:pPr marL="539749" lvl="1" indent="-269875" algn="l">
              <a:lnSpc>
                <a:spcPts val="3294"/>
              </a:lnSpc>
              <a:buFont typeface="Arial"/>
              <a:buChar char="•"/>
            </a:pPr>
            <a:r>
              <a:rPr lang="en-US" sz="2499" dirty="0">
                <a:solidFill>
                  <a:srgbClr val="161613"/>
                </a:solidFill>
                <a:latin typeface="Calibri (MS)"/>
                <a:ea typeface="Calibri (MS)"/>
                <a:cs typeface="Calibri (MS)"/>
                <a:sym typeface="Calibri (MS)"/>
              </a:rPr>
              <a:t>If the signals are not addressed, the system will make the car stop safely away from the oncoming traffic and turn on the emergency lights.</a:t>
            </a:r>
          </a:p>
          <a:p>
            <a:pPr algn="l">
              <a:lnSpc>
                <a:spcPts val="3294"/>
              </a:lnSpc>
            </a:pPr>
            <a:endParaRPr lang="en-US" sz="2499" dirty="0">
              <a:solidFill>
                <a:srgbClr val="161613"/>
              </a:solidFill>
              <a:latin typeface="Calibri (MS)"/>
              <a:ea typeface="Calibri (MS)"/>
              <a:cs typeface="Calibri (MS)"/>
              <a:sym typeface="Calibri (MS)"/>
            </a:endParaRPr>
          </a:p>
          <a:p>
            <a:pPr marL="539749" lvl="1" indent="-269875" algn="l">
              <a:lnSpc>
                <a:spcPts val="3295"/>
              </a:lnSpc>
              <a:buFont typeface="Arial"/>
              <a:buChar char="•"/>
            </a:pPr>
            <a:r>
              <a:rPr lang="en-US" sz="2499" dirty="0">
                <a:solidFill>
                  <a:srgbClr val="161613"/>
                </a:solidFill>
                <a:latin typeface="Calibri (MS)"/>
                <a:ea typeface="Calibri (MS)"/>
                <a:cs typeface="Calibri (MS)"/>
                <a:sym typeface="Calibri (MS)"/>
              </a:rPr>
              <a:t>BMW 7 Series and Mercedes‑Benz S‑Class come with Active Emergency Stop Assist.</a:t>
            </a:r>
          </a:p>
        </p:txBody>
      </p:sp>
      <p:sp>
        <p:nvSpPr>
          <p:cNvPr id="8" name="TextBox 8"/>
          <p:cNvSpPr txBox="1"/>
          <p:nvPr/>
        </p:nvSpPr>
        <p:spPr>
          <a:xfrm>
            <a:off x="892553" y="271479"/>
            <a:ext cx="16502894" cy="893959"/>
          </a:xfrm>
          <a:prstGeom prst="rect">
            <a:avLst/>
          </a:prstGeom>
        </p:spPr>
        <p:txBody>
          <a:bodyPr lIns="0" tIns="0" rIns="0" bIns="0" rtlCol="0" anchor="t">
            <a:spAutoFit/>
          </a:bodyPr>
          <a:lstStyle/>
          <a:p>
            <a:pPr algn="ctr">
              <a:lnSpc>
                <a:spcPts val="6235"/>
              </a:lnSpc>
            </a:pPr>
            <a:r>
              <a:rPr lang="en-US" sz="5000" b="1">
                <a:solidFill>
                  <a:srgbClr val="161613"/>
                </a:solidFill>
                <a:latin typeface="Calibri (MS) Bold"/>
                <a:ea typeface="Calibri (MS) Bold"/>
                <a:cs typeface="Calibri (MS) Bold"/>
                <a:sym typeface="Calibri (MS) Bold"/>
              </a:rPr>
              <a:t>Driver Monitoring &amp; Emergency Systems</a:t>
            </a:r>
          </a:p>
        </p:txBody>
      </p:sp>
      <p:grpSp>
        <p:nvGrpSpPr>
          <p:cNvPr id="9" name="Group 9"/>
          <p:cNvGrpSpPr/>
          <p:nvPr/>
        </p:nvGrpSpPr>
        <p:grpSpPr>
          <a:xfrm>
            <a:off x="8719242" y="2536629"/>
            <a:ext cx="9284258" cy="5213742"/>
            <a:chOff x="0" y="0"/>
            <a:chExt cx="25322013" cy="14220033"/>
          </a:xfrm>
        </p:grpSpPr>
        <p:sp>
          <p:nvSpPr>
            <p:cNvPr id="10" name="Freeform 10"/>
            <p:cNvSpPr/>
            <p:nvPr/>
          </p:nvSpPr>
          <p:spPr>
            <a:xfrm>
              <a:off x="0" y="0"/>
              <a:ext cx="25322014" cy="14220033"/>
            </a:xfrm>
            <a:custGeom>
              <a:avLst/>
              <a:gdLst/>
              <a:ahLst/>
              <a:cxnLst/>
              <a:rect l="l" t="t" r="r" b="b"/>
              <a:pathLst>
                <a:path w="25322014" h="14220033">
                  <a:moveTo>
                    <a:pt x="0" y="0"/>
                  </a:moveTo>
                  <a:lnTo>
                    <a:pt x="25322014" y="0"/>
                  </a:lnTo>
                  <a:lnTo>
                    <a:pt x="25322014" y="14220033"/>
                  </a:lnTo>
                  <a:lnTo>
                    <a:pt x="0" y="14220033"/>
                  </a:lnTo>
                  <a:lnTo>
                    <a:pt x="0" y="0"/>
                  </a:lnTo>
                  <a:close/>
                </a:path>
              </a:pathLst>
            </a:custGeom>
            <a:blipFill>
              <a:blip r:embed="rId3"/>
              <a:stretch>
                <a:fillRect l="-17960" r="-17960"/>
              </a:stretch>
            </a:blipFill>
          </p:spPr>
        </p:sp>
      </p:grpSp>
      <p:sp>
        <p:nvSpPr>
          <p:cNvPr id="11" name="TextBox 11"/>
          <p:cNvSpPr txBox="1"/>
          <p:nvPr/>
        </p:nvSpPr>
        <p:spPr>
          <a:xfrm>
            <a:off x="17460227" y="9929350"/>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272728">
                    <a:alpha val="47843"/>
                  </a:srgbClr>
                </a:solidFill>
                <a:latin typeface="Canva Sans"/>
                <a:ea typeface="Canva Sans"/>
                <a:cs typeface="Canva Sans"/>
                <a:sym typeface="Canva Sans"/>
              </a:rPr>
              <a:t>Page 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9F8F5"/>
            </a:solidFill>
          </p:spPr>
        </p:sp>
      </p:grpSp>
      <p:grpSp>
        <p:nvGrpSpPr>
          <p:cNvPr id="4" name="Group 4"/>
          <p:cNvGrpSpPr/>
          <p:nvPr/>
        </p:nvGrpSpPr>
        <p:grpSpPr>
          <a:xfrm>
            <a:off x="9255576" y="1611199"/>
            <a:ext cx="8003724" cy="3638183"/>
            <a:chOff x="0" y="0"/>
            <a:chExt cx="31282987" cy="14220033"/>
          </a:xfrm>
        </p:grpSpPr>
        <p:sp>
          <p:nvSpPr>
            <p:cNvPr id="5" name="Freeform 5"/>
            <p:cNvSpPr/>
            <p:nvPr/>
          </p:nvSpPr>
          <p:spPr>
            <a:xfrm>
              <a:off x="0" y="0"/>
              <a:ext cx="31282987" cy="14220033"/>
            </a:xfrm>
            <a:custGeom>
              <a:avLst/>
              <a:gdLst/>
              <a:ahLst/>
              <a:cxnLst/>
              <a:rect l="l" t="t" r="r" b="b"/>
              <a:pathLst>
                <a:path w="31282987" h="14220033">
                  <a:moveTo>
                    <a:pt x="0" y="0"/>
                  </a:moveTo>
                  <a:lnTo>
                    <a:pt x="31282987" y="0"/>
                  </a:lnTo>
                  <a:lnTo>
                    <a:pt x="31282987" y="14220033"/>
                  </a:lnTo>
                  <a:lnTo>
                    <a:pt x="0" y="14220033"/>
                  </a:lnTo>
                  <a:lnTo>
                    <a:pt x="0" y="0"/>
                  </a:lnTo>
                  <a:close/>
                </a:path>
              </a:pathLst>
            </a:custGeom>
            <a:blipFill>
              <a:blip r:embed="rId2"/>
              <a:stretch>
                <a:fillRect t="-460" b="-460"/>
              </a:stretch>
            </a:blipFill>
          </p:spPr>
        </p:sp>
      </p:grpSp>
      <p:grpSp>
        <p:nvGrpSpPr>
          <p:cNvPr id="6" name="Group 6"/>
          <p:cNvGrpSpPr/>
          <p:nvPr/>
        </p:nvGrpSpPr>
        <p:grpSpPr>
          <a:xfrm>
            <a:off x="0" y="5432057"/>
            <a:ext cx="17259300" cy="89534"/>
            <a:chOff x="0" y="0"/>
            <a:chExt cx="23012400" cy="119379"/>
          </a:xfrm>
        </p:grpSpPr>
        <p:grpSp>
          <p:nvGrpSpPr>
            <p:cNvPr id="7" name="Group 7"/>
            <p:cNvGrpSpPr/>
            <p:nvPr/>
          </p:nvGrpSpPr>
          <p:grpSpPr>
            <a:xfrm>
              <a:off x="0" y="0"/>
              <a:ext cx="6993928" cy="119379"/>
              <a:chOff x="0" y="0"/>
              <a:chExt cx="6993928" cy="119379"/>
            </a:xfrm>
          </p:grpSpPr>
          <p:sp>
            <p:nvSpPr>
              <p:cNvPr id="8" name="Freeform 8"/>
              <p:cNvSpPr/>
              <p:nvPr/>
            </p:nvSpPr>
            <p:spPr>
              <a:xfrm>
                <a:off x="0" y="0"/>
                <a:ext cx="6994017" cy="119506"/>
              </a:xfrm>
              <a:custGeom>
                <a:avLst/>
                <a:gdLst/>
                <a:ahLst/>
                <a:cxnLst/>
                <a:rect l="l" t="t" r="r" b="b"/>
                <a:pathLst>
                  <a:path w="6994017" h="119506">
                    <a:moveTo>
                      <a:pt x="0" y="33352"/>
                    </a:moveTo>
                    <a:cubicBezTo>
                      <a:pt x="0" y="14922"/>
                      <a:pt x="25400" y="0"/>
                      <a:pt x="56769" y="0"/>
                    </a:cubicBezTo>
                    <a:lnTo>
                      <a:pt x="6937248" y="0"/>
                    </a:lnTo>
                    <a:cubicBezTo>
                      <a:pt x="6968617" y="0"/>
                      <a:pt x="6994017" y="14922"/>
                      <a:pt x="6994017" y="33352"/>
                    </a:cubicBezTo>
                    <a:lnTo>
                      <a:pt x="6994017" y="86102"/>
                    </a:lnTo>
                    <a:cubicBezTo>
                      <a:pt x="6994017" y="104531"/>
                      <a:pt x="6968617" y="119506"/>
                      <a:pt x="6937248" y="119506"/>
                    </a:cubicBezTo>
                    <a:lnTo>
                      <a:pt x="56769" y="119506"/>
                    </a:lnTo>
                    <a:cubicBezTo>
                      <a:pt x="25400" y="119379"/>
                      <a:pt x="0" y="104457"/>
                      <a:pt x="0" y="86028"/>
                    </a:cubicBezTo>
                    <a:close/>
                  </a:path>
                </a:pathLst>
              </a:custGeom>
              <a:solidFill>
                <a:srgbClr val="28282F"/>
              </a:solidFill>
            </p:spPr>
          </p:sp>
        </p:grpSp>
        <p:grpSp>
          <p:nvGrpSpPr>
            <p:cNvPr id="9" name="Group 9"/>
            <p:cNvGrpSpPr/>
            <p:nvPr/>
          </p:nvGrpSpPr>
          <p:grpSpPr>
            <a:xfrm>
              <a:off x="6918529" y="0"/>
              <a:ext cx="6993928" cy="119379"/>
              <a:chOff x="0" y="0"/>
              <a:chExt cx="6993928" cy="119379"/>
            </a:xfrm>
          </p:grpSpPr>
          <p:sp>
            <p:nvSpPr>
              <p:cNvPr id="10" name="Freeform 10"/>
              <p:cNvSpPr/>
              <p:nvPr/>
            </p:nvSpPr>
            <p:spPr>
              <a:xfrm>
                <a:off x="0" y="0"/>
                <a:ext cx="6994017" cy="119506"/>
              </a:xfrm>
              <a:custGeom>
                <a:avLst/>
                <a:gdLst/>
                <a:ahLst/>
                <a:cxnLst/>
                <a:rect l="l" t="t" r="r" b="b"/>
                <a:pathLst>
                  <a:path w="6994017" h="119506">
                    <a:moveTo>
                      <a:pt x="0" y="33352"/>
                    </a:moveTo>
                    <a:cubicBezTo>
                      <a:pt x="0" y="14922"/>
                      <a:pt x="25400" y="0"/>
                      <a:pt x="56769" y="0"/>
                    </a:cubicBezTo>
                    <a:lnTo>
                      <a:pt x="6937248" y="0"/>
                    </a:lnTo>
                    <a:cubicBezTo>
                      <a:pt x="6968617" y="0"/>
                      <a:pt x="6994017" y="14922"/>
                      <a:pt x="6994017" y="33352"/>
                    </a:cubicBezTo>
                    <a:lnTo>
                      <a:pt x="6994017" y="86102"/>
                    </a:lnTo>
                    <a:cubicBezTo>
                      <a:pt x="6994017" y="104531"/>
                      <a:pt x="6968617" y="119506"/>
                      <a:pt x="6937248" y="119506"/>
                    </a:cubicBezTo>
                    <a:lnTo>
                      <a:pt x="56769" y="119506"/>
                    </a:lnTo>
                    <a:cubicBezTo>
                      <a:pt x="25400" y="119379"/>
                      <a:pt x="0" y="104457"/>
                      <a:pt x="0" y="86028"/>
                    </a:cubicBezTo>
                    <a:close/>
                  </a:path>
                </a:pathLst>
              </a:custGeom>
              <a:solidFill>
                <a:srgbClr val="28282F"/>
              </a:solidFill>
            </p:spPr>
          </p:sp>
        </p:grpSp>
        <p:grpSp>
          <p:nvGrpSpPr>
            <p:cNvPr id="11" name="Group 11"/>
            <p:cNvGrpSpPr/>
            <p:nvPr/>
          </p:nvGrpSpPr>
          <p:grpSpPr>
            <a:xfrm>
              <a:off x="9099943" y="0"/>
              <a:ext cx="6993928" cy="119379"/>
              <a:chOff x="0" y="0"/>
              <a:chExt cx="6993928" cy="119379"/>
            </a:xfrm>
          </p:grpSpPr>
          <p:sp>
            <p:nvSpPr>
              <p:cNvPr id="12" name="Freeform 12"/>
              <p:cNvSpPr/>
              <p:nvPr/>
            </p:nvSpPr>
            <p:spPr>
              <a:xfrm>
                <a:off x="0" y="0"/>
                <a:ext cx="6994017" cy="119506"/>
              </a:xfrm>
              <a:custGeom>
                <a:avLst/>
                <a:gdLst/>
                <a:ahLst/>
                <a:cxnLst/>
                <a:rect l="l" t="t" r="r" b="b"/>
                <a:pathLst>
                  <a:path w="6994017" h="119506">
                    <a:moveTo>
                      <a:pt x="0" y="33352"/>
                    </a:moveTo>
                    <a:cubicBezTo>
                      <a:pt x="0" y="14922"/>
                      <a:pt x="25400" y="0"/>
                      <a:pt x="56769" y="0"/>
                    </a:cubicBezTo>
                    <a:lnTo>
                      <a:pt x="6937248" y="0"/>
                    </a:lnTo>
                    <a:cubicBezTo>
                      <a:pt x="6968617" y="0"/>
                      <a:pt x="6994017" y="14922"/>
                      <a:pt x="6994017" y="33352"/>
                    </a:cubicBezTo>
                    <a:lnTo>
                      <a:pt x="6994017" y="86102"/>
                    </a:lnTo>
                    <a:cubicBezTo>
                      <a:pt x="6994017" y="104531"/>
                      <a:pt x="6968617" y="119506"/>
                      <a:pt x="6937248" y="119506"/>
                    </a:cubicBezTo>
                    <a:lnTo>
                      <a:pt x="56769" y="119506"/>
                    </a:lnTo>
                    <a:cubicBezTo>
                      <a:pt x="25400" y="119379"/>
                      <a:pt x="0" y="104457"/>
                      <a:pt x="0" y="86028"/>
                    </a:cubicBezTo>
                    <a:close/>
                  </a:path>
                </a:pathLst>
              </a:custGeom>
              <a:solidFill>
                <a:srgbClr val="28282F"/>
              </a:solidFill>
            </p:spPr>
          </p:sp>
        </p:grpSp>
        <p:grpSp>
          <p:nvGrpSpPr>
            <p:cNvPr id="13" name="Group 13"/>
            <p:cNvGrpSpPr/>
            <p:nvPr/>
          </p:nvGrpSpPr>
          <p:grpSpPr>
            <a:xfrm>
              <a:off x="16018472" y="0"/>
              <a:ext cx="6993928" cy="119379"/>
              <a:chOff x="0" y="0"/>
              <a:chExt cx="6993928" cy="119379"/>
            </a:xfrm>
          </p:grpSpPr>
          <p:sp>
            <p:nvSpPr>
              <p:cNvPr id="14" name="Freeform 14"/>
              <p:cNvSpPr/>
              <p:nvPr/>
            </p:nvSpPr>
            <p:spPr>
              <a:xfrm>
                <a:off x="0" y="0"/>
                <a:ext cx="6994017" cy="119506"/>
              </a:xfrm>
              <a:custGeom>
                <a:avLst/>
                <a:gdLst/>
                <a:ahLst/>
                <a:cxnLst/>
                <a:rect l="l" t="t" r="r" b="b"/>
                <a:pathLst>
                  <a:path w="6994017" h="119506">
                    <a:moveTo>
                      <a:pt x="0" y="33352"/>
                    </a:moveTo>
                    <a:cubicBezTo>
                      <a:pt x="0" y="14922"/>
                      <a:pt x="25400" y="0"/>
                      <a:pt x="56769" y="0"/>
                    </a:cubicBezTo>
                    <a:lnTo>
                      <a:pt x="6937248" y="0"/>
                    </a:lnTo>
                    <a:cubicBezTo>
                      <a:pt x="6968617" y="0"/>
                      <a:pt x="6994017" y="14922"/>
                      <a:pt x="6994017" y="33352"/>
                    </a:cubicBezTo>
                    <a:lnTo>
                      <a:pt x="6994017" y="86102"/>
                    </a:lnTo>
                    <a:cubicBezTo>
                      <a:pt x="6994017" y="104531"/>
                      <a:pt x="6968617" y="119506"/>
                      <a:pt x="6937248" y="119506"/>
                    </a:cubicBezTo>
                    <a:lnTo>
                      <a:pt x="56769" y="119506"/>
                    </a:lnTo>
                    <a:cubicBezTo>
                      <a:pt x="25400" y="119379"/>
                      <a:pt x="0" y="104457"/>
                      <a:pt x="0" y="86028"/>
                    </a:cubicBezTo>
                    <a:close/>
                  </a:path>
                </a:pathLst>
              </a:custGeom>
              <a:solidFill>
                <a:srgbClr val="28282F"/>
              </a:solidFill>
            </p:spPr>
          </p:sp>
        </p:grpSp>
      </p:grpSp>
      <p:grpSp>
        <p:nvGrpSpPr>
          <p:cNvPr id="15" name="Group 15"/>
          <p:cNvGrpSpPr/>
          <p:nvPr/>
        </p:nvGrpSpPr>
        <p:grpSpPr>
          <a:xfrm>
            <a:off x="892553" y="6024935"/>
            <a:ext cx="6493567" cy="3638183"/>
            <a:chOff x="0" y="0"/>
            <a:chExt cx="25380454" cy="14220033"/>
          </a:xfrm>
        </p:grpSpPr>
        <p:sp>
          <p:nvSpPr>
            <p:cNvPr id="16" name="Freeform 16"/>
            <p:cNvSpPr/>
            <p:nvPr/>
          </p:nvSpPr>
          <p:spPr>
            <a:xfrm>
              <a:off x="0" y="0"/>
              <a:ext cx="25380454" cy="14220033"/>
            </a:xfrm>
            <a:custGeom>
              <a:avLst/>
              <a:gdLst/>
              <a:ahLst/>
              <a:cxnLst/>
              <a:rect l="l" t="t" r="r" b="b"/>
              <a:pathLst>
                <a:path w="25380454" h="14220033">
                  <a:moveTo>
                    <a:pt x="0" y="0"/>
                  </a:moveTo>
                  <a:lnTo>
                    <a:pt x="25380454" y="0"/>
                  </a:lnTo>
                  <a:lnTo>
                    <a:pt x="25380454" y="14220033"/>
                  </a:lnTo>
                  <a:lnTo>
                    <a:pt x="0" y="14220033"/>
                  </a:lnTo>
                  <a:lnTo>
                    <a:pt x="0" y="0"/>
                  </a:lnTo>
                  <a:close/>
                </a:path>
              </a:pathLst>
            </a:custGeom>
            <a:blipFill>
              <a:blip r:embed="rId3"/>
              <a:stretch>
                <a:fillRect t="-198" b="-198"/>
              </a:stretch>
            </a:blipFill>
          </p:spPr>
        </p:sp>
      </p:grpSp>
      <p:sp>
        <p:nvSpPr>
          <p:cNvPr id="17" name="TextBox 17"/>
          <p:cNvSpPr txBox="1"/>
          <p:nvPr/>
        </p:nvSpPr>
        <p:spPr>
          <a:xfrm>
            <a:off x="892553" y="271479"/>
            <a:ext cx="16502894" cy="893959"/>
          </a:xfrm>
          <a:prstGeom prst="rect">
            <a:avLst/>
          </a:prstGeom>
        </p:spPr>
        <p:txBody>
          <a:bodyPr lIns="0" tIns="0" rIns="0" bIns="0" rtlCol="0" anchor="t">
            <a:spAutoFit/>
          </a:bodyPr>
          <a:lstStyle/>
          <a:p>
            <a:pPr algn="ctr">
              <a:lnSpc>
                <a:spcPts val="6235"/>
              </a:lnSpc>
            </a:pPr>
            <a:r>
              <a:rPr lang="en-US" sz="5000" b="1" dirty="0">
                <a:solidFill>
                  <a:srgbClr val="161613"/>
                </a:solidFill>
                <a:latin typeface="Calibri (MS) Bold"/>
                <a:ea typeface="Calibri (MS) Bold"/>
                <a:cs typeface="Calibri (MS) Bold"/>
                <a:sym typeface="Calibri (MS) Bold"/>
              </a:rPr>
              <a:t>Hill Ascent and Descent Control</a:t>
            </a:r>
          </a:p>
        </p:txBody>
      </p:sp>
      <p:grpSp>
        <p:nvGrpSpPr>
          <p:cNvPr id="18" name="Group 18"/>
          <p:cNvGrpSpPr/>
          <p:nvPr/>
        </p:nvGrpSpPr>
        <p:grpSpPr>
          <a:xfrm>
            <a:off x="643042" y="1357446"/>
            <a:ext cx="7173312" cy="3882603"/>
            <a:chOff x="0" y="0"/>
            <a:chExt cx="9564416" cy="5176803"/>
          </a:xfrm>
        </p:grpSpPr>
        <p:sp>
          <p:nvSpPr>
            <p:cNvPr id="19" name="TextBox 19"/>
            <p:cNvSpPr txBox="1"/>
            <p:nvPr/>
          </p:nvSpPr>
          <p:spPr>
            <a:xfrm>
              <a:off x="0" y="-66675"/>
              <a:ext cx="4240383" cy="602615"/>
            </a:xfrm>
            <a:prstGeom prst="rect">
              <a:avLst/>
            </a:prstGeom>
          </p:spPr>
          <p:txBody>
            <a:bodyPr lIns="0" tIns="0" rIns="0" bIns="0" rtlCol="0" anchor="t">
              <a:spAutoFit/>
            </a:bodyPr>
            <a:lstStyle/>
            <a:p>
              <a:pPr algn="l">
                <a:lnSpc>
                  <a:spcPts val="3374"/>
                </a:lnSpc>
              </a:pPr>
              <a:r>
                <a:rPr lang="en-US" sz="2699" b="1" u="sng">
                  <a:solidFill>
                    <a:srgbClr val="161613"/>
                  </a:solidFill>
                  <a:latin typeface="Calibri (MS) Bold"/>
                  <a:ea typeface="Calibri (MS) Bold"/>
                  <a:cs typeface="Calibri (MS) Bold"/>
                  <a:sym typeface="Calibri (MS) Bold"/>
                </a:rPr>
                <a:t>Hill Ascent Control</a:t>
              </a:r>
            </a:p>
          </p:txBody>
        </p:sp>
        <p:sp>
          <p:nvSpPr>
            <p:cNvPr id="20" name="TextBox 20"/>
            <p:cNvSpPr txBox="1"/>
            <p:nvPr/>
          </p:nvSpPr>
          <p:spPr>
            <a:xfrm>
              <a:off x="0" y="670801"/>
              <a:ext cx="9564416" cy="4506002"/>
            </a:xfrm>
            <a:prstGeom prst="rect">
              <a:avLst/>
            </a:prstGeom>
          </p:spPr>
          <p:txBody>
            <a:bodyPr lIns="0" tIns="0" rIns="0" bIns="0" rtlCol="0" anchor="t">
              <a:spAutoFit/>
            </a:bodyPr>
            <a:lstStyle/>
            <a:p>
              <a:pPr marL="540749" lvl="1" indent="-270374" algn="l">
                <a:lnSpc>
                  <a:spcPts val="3301"/>
                </a:lnSpc>
                <a:buFont typeface="Arial"/>
                <a:buChar char="•"/>
              </a:pPr>
              <a:r>
                <a:rPr lang="en-US" sz="2504">
                  <a:solidFill>
                    <a:srgbClr val="161613"/>
                  </a:solidFill>
                  <a:latin typeface="Calibri (MS)"/>
                  <a:ea typeface="Calibri (MS)"/>
                  <a:cs typeface="Calibri (MS)"/>
                  <a:sym typeface="Calibri (MS)"/>
                </a:rPr>
                <a:t> Hill Ascent Control helps a vehicle move smoothly uphill without rolling backward. When the driver releases the brake on a slope, the system briefly holds the brakes to prevent the car from rolling back. This gives the driver time to press the accelerator and move forward safely. It improves control and confidence when starting on steep inclines.</a:t>
              </a:r>
            </a:p>
          </p:txBody>
        </p:sp>
      </p:grpSp>
      <p:grpSp>
        <p:nvGrpSpPr>
          <p:cNvPr id="21" name="Group 21"/>
          <p:cNvGrpSpPr/>
          <p:nvPr/>
        </p:nvGrpSpPr>
        <p:grpSpPr>
          <a:xfrm>
            <a:off x="10222135" y="6024935"/>
            <a:ext cx="7173312" cy="3768996"/>
            <a:chOff x="0" y="0"/>
            <a:chExt cx="9564416" cy="5025329"/>
          </a:xfrm>
        </p:grpSpPr>
        <p:sp>
          <p:nvSpPr>
            <p:cNvPr id="22" name="TextBox 22"/>
            <p:cNvSpPr txBox="1"/>
            <p:nvPr/>
          </p:nvSpPr>
          <p:spPr>
            <a:xfrm>
              <a:off x="5324033" y="-66675"/>
              <a:ext cx="4240383" cy="602615"/>
            </a:xfrm>
            <a:prstGeom prst="rect">
              <a:avLst/>
            </a:prstGeom>
          </p:spPr>
          <p:txBody>
            <a:bodyPr lIns="0" tIns="0" rIns="0" bIns="0" rtlCol="0" anchor="t">
              <a:spAutoFit/>
            </a:bodyPr>
            <a:lstStyle/>
            <a:p>
              <a:pPr algn="l">
                <a:lnSpc>
                  <a:spcPts val="3374"/>
                </a:lnSpc>
              </a:pPr>
              <a:r>
                <a:rPr lang="en-US" sz="2699" b="1" u="sng">
                  <a:solidFill>
                    <a:srgbClr val="161613"/>
                  </a:solidFill>
                  <a:latin typeface="Calibri (MS) Bold"/>
                  <a:ea typeface="Calibri (MS) Bold"/>
                  <a:cs typeface="Calibri (MS) Bold"/>
                  <a:sym typeface="Calibri (MS) Bold"/>
                </a:rPr>
                <a:t>Hill Descent Control</a:t>
              </a:r>
            </a:p>
          </p:txBody>
        </p:sp>
        <p:sp>
          <p:nvSpPr>
            <p:cNvPr id="23" name="TextBox 23"/>
            <p:cNvSpPr txBox="1"/>
            <p:nvPr/>
          </p:nvSpPr>
          <p:spPr>
            <a:xfrm>
              <a:off x="0" y="1078126"/>
              <a:ext cx="9564416" cy="3947202"/>
            </a:xfrm>
            <a:prstGeom prst="rect">
              <a:avLst/>
            </a:prstGeom>
          </p:spPr>
          <p:txBody>
            <a:bodyPr lIns="0" tIns="0" rIns="0" bIns="0" rtlCol="0" anchor="t">
              <a:spAutoFit/>
            </a:bodyPr>
            <a:lstStyle/>
            <a:p>
              <a:pPr algn="r">
                <a:lnSpc>
                  <a:spcPts val="3301"/>
                </a:lnSpc>
              </a:pPr>
              <a:r>
                <a:rPr lang="en-US" sz="2504">
                  <a:solidFill>
                    <a:srgbClr val="161613"/>
                  </a:solidFill>
                  <a:latin typeface="Calibri (MS)"/>
                  <a:ea typeface="Calibri (MS)"/>
                  <a:cs typeface="Calibri (MS)"/>
                  <a:sym typeface="Calibri (MS)"/>
                </a:rPr>
                <a:t> Hill Descent Control helps maintain a controlled speed when driving down steep slopes. The system automatically applies the brakes to keep the vehicle from accelerating too quickly. This allows the driver to focus on steering instead of constantly braking. It is especially useful in off-road and mountainous driving conditions.</a:t>
              </a:r>
            </a:p>
          </p:txBody>
        </p:sp>
      </p:grpSp>
      <p:sp>
        <p:nvSpPr>
          <p:cNvPr id="24" name="TextBox 24"/>
          <p:cNvSpPr txBox="1"/>
          <p:nvPr/>
        </p:nvSpPr>
        <p:spPr>
          <a:xfrm>
            <a:off x="17460227" y="9929350"/>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272728">
                    <a:alpha val="47843"/>
                  </a:srgbClr>
                </a:solidFill>
                <a:latin typeface="Canva Sans"/>
                <a:ea typeface="Canva Sans"/>
                <a:cs typeface="Canva Sans"/>
                <a:sym typeface="Canva Sans"/>
              </a:rPr>
              <a:t>Page 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6E2DB"/>
            </a:solidFill>
          </p:spPr>
        </p:sp>
      </p:grpSp>
      <p:grpSp>
        <p:nvGrpSpPr>
          <p:cNvPr id="4" name="Group 4"/>
          <p:cNvGrpSpPr/>
          <p:nvPr/>
        </p:nvGrpSpPr>
        <p:grpSpPr>
          <a:xfrm>
            <a:off x="1905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9F8F5"/>
            </a:solidFill>
          </p:spPr>
        </p:sp>
      </p:grpSp>
      <p:grpSp>
        <p:nvGrpSpPr>
          <p:cNvPr id="6" name="Group 6"/>
          <p:cNvGrpSpPr/>
          <p:nvPr/>
        </p:nvGrpSpPr>
        <p:grpSpPr>
          <a:xfrm>
            <a:off x="250927" y="2135386"/>
            <a:ext cx="6858000" cy="6016228"/>
            <a:chOff x="0" y="0"/>
            <a:chExt cx="9144000" cy="8021638"/>
          </a:xfrm>
        </p:grpSpPr>
        <p:sp>
          <p:nvSpPr>
            <p:cNvPr id="7" name="Freeform 7"/>
            <p:cNvSpPr/>
            <p:nvPr/>
          </p:nvSpPr>
          <p:spPr>
            <a:xfrm>
              <a:off x="0" y="0"/>
              <a:ext cx="9144000" cy="8021638"/>
            </a:xfrm>
            <a:custGeom>
              <a:avLst/>
              <a:gdLst/>
              <a:ahLst/>
              <a:cxnLst/>
              <a:rect l="l" t="t" r="r" b="b"/>
              <a:pathLst>
                <a:path w="9144000" h="8021638">
                  <a:moveTo>
                    <a:pt x="0" y="0"/>
                  </a:moveTo>
                  <a:lnTo>
                    <a:pt x="9144000" y="0"/>
                  </a:lnTo>
                  <a:lnTo>
                    <a:pt x="9144000" y="8021638"/>
                  </a:lnTo>
                  <a:lnTo>
                    <a:pt x="0" y="8021638"/>
                  </a:lnTo>
                  <a:lnTo>
                    <a:pt x="0" y="0"/>
                  </a:lnTo>
                  <a:close/>
                </a:path>
              </a:pathLst>
            </a:custGeom>
            <a:blipFill>
              <a:blip r:embed="rId3"/>
              <a:stretch>
                <a:fillRect l="-28326" r="-28326"/>
              </a:stretch>
            </a:blipFill>
          </p:spPr>
        </p:sp>
      </p:grpSp>
      <p:sp>
        <p:nvSpPr>
          <p:cNvPr id="8" name="TextBox 8"/>
          <p:cNvSpPr txBox="1"/>
          <p:nvPr/>
        </p:nvSpPr>
        <p:spPr>
          <a:xfrm>
            <a:off x="7604227" y="1283770"/>
            <a:ext cx="9937547" cy="1376973"/>
          </a:xfrm>
          <a:prstGeom prst="rect">
            <a:avLst/>
          </a:prstGeom>
        </p:spPr>
        <p:txBody>
          <a:bodyPr lIns="0" tIns="0" rIns="0" bIns="0" rtlCol="0" anchor="t">
            <a:spAutoFit/>
          </a:bodyPr>
          <a:lstStyle/>
          <a:p>
            <a:pPr algn="l">
              <a:lnSpc>
                <a:spcPts val="3557"/>
              </a:lnSpc>
            </a:pPr>
            <a:r>
              <a:rPr lang="en-US" sz="2499">
                <a:solidFill>
                  <a:srgbClr val="161613"/>
                </a:solidFill>
                <a:latin typeface="Calibri (MS)"/>
                <a:ea typeface="Calibri (MS)"/>
                <a:cs typeface="Calibri (MS)"/>
                <a:sym typeface="Calibri (MS)"/>
              </a:rPr>
              <a:t>These critical safety systems work together to prevent lane departure and collision accidents through continuous monitoring and automated interventions.</a:t>
            </a:r>
          </a:p>
        </p:txBody>
      </p:sp>
      <p:grpSp>
        <p:nvGrpSpPr>
          <p:cNvPr id="9" name="Group 9"/>
          <p:cNvGrpSpPr/>
          <p:nvPr/>
        </p:nvGrpSpPr>
        <p:grpSpPr>
          <a:xfrm>
            <a:off x="7524007" y="2857020"/>
            <a:ext cx="10017766" cy="6571697"/>
            <a:chOff x="0" y="0"/>
            <a:chExt cx="13357022" cy="8762262"/>
          </a:xfrm>
        </p:grpSpPr>
        <p:sp>
          <p:nvSpPr>
            <p:cNvPr id="10" name="Freeform 10" descr="preencoded.png"/>
            <p:cNvSpPr/>
            <p:nvPr/>
          </p:nvSpPr>
          <p:spPr>
            <a:xfrm>
              <a:off x="0" y="0"/>
              <a:ext cx="284162" cy="284162"/>
            </a:xfrm>
            <a:custGeom>
              <a:avLst/>
              <a:gdLst/>
              <a:ahLst/>
              <a:cxnLst/>
              <a:rect l="l" t="t" r="r" b="b"/>
              <a:pathLst>
                <a:path w="284162" h="284162">
                  <a:moveTo>
                    <a:pt x="0" y="0"/>
                  </a:moveTo>
                  <a:lnTo>
                    <a:pt x="284162" y="0"/>
                  </a:lnTo>
                  <a:lnTo>
                    <a:pt x="284162" y="284162"/>
                  </a:lnTo>
                  <a:lnTo>
                    <a:pt x="0" y="284162"/>
                  </a:lnTo>
                  <a:lnTo>
                    <a:pt x="0" y="0"/>
                  </a:lnTo>
                  <a:close/>
                </a:path>
              </a:pathLst>
            </a:custGeom>
            <a:blipFill>
              <a:blip r:embed="rId4">
                <a:extLst>
                  <a:ext uri="{96DAC541-7B7A-43D3-8B79-37D633B846F1}">
                    <asvg:svgBlip xmlns:asvg="http://schemas.microsoft.com/office/drawing/2016/SVG/main" r:embed="rId5"/>
                  </a:ext>
                </a:extLst>
              </a:blip>
              <a:stretch>
                <a:fillRect t="-6520" b="-6520"/>
              </a:stretch>
            </a:blipFill>
          </p:spPr>
        </p:sp>
        <p:grpSp>
          <p:nvGrpSpPr>
            <p:cNvPr id="11" name="Group 11"/>
            <p:cNvGrpSpPr/>
            <p:nvPr/>
          </p:nvGrpSpPr>
          <p:grpSpPr>
            <a:xfrm>
              <a:off x="0" y="409575"/>
              <a:ext cx="6518072" cy="38100"/>
              <a:chOff x="0" y="0"/>
              <a:chExt cx="6518072" cy="38100"/>
            </a:xfrm>
          </p:grpSpPr>
          <p:sp>
            <p:nvSpPr>
              <p:cNvPr id="12" name="Freeform 12"/>
              <p:cNvSpPr/>
              <p:nvPr/>
            </p:nvSpPr>
            <p:spPr>
              <a:xfrm>
                <a:off x="0" y="0"/>
                <a:ext cx="6518021" cy="38100"/>
              </a:xfrm>
              <a:custGeom>
                <a:avLst/>
                <a:gdLst/>
                <a:ahLst/>
                <a:cxnLst/>
                <a:rect l="l" t="t" r="r" b="b"/>
                <a:pathLst>
                  <a:path w="6518021" h="38100">
                    <a:moveTo>
                      <a:pt x="0" y="0"/>
                    </a:moveTo>
                    <a:lnTo>
                      <a:pt x="6518021" y="0"/>
                    </a:lnTo>
                    <a:lnTo>
                      <a:pt x="6518021" y="38100"/>
                    </a:lnTo>
                    <a:lnTo>
                      <a:pt x="0" y="38100"/>
                    </a:lnTo>
                    <a:close/>
                  </a:path>
                </a:pathLst>
              </a:custGeom>
              <a:solidFill>
                <a:srgbClr val="28282F"/>
              </a:solidFill>
            </p:spPr>
          </p:sp>
        </p:grpSp>
        <p:sp>
          <p:nvSpPr>
            <p:cNvPr id="13" name="TextBox 13"/>
            <p:cNvSpPr txBox="1"/>
            <p:nvPr/>
          </p:nvSpPr>
          <p:spPr>
            <a:xfrm>
              <a:off x="0" y="561175"/>
              <a:ext cx="5157303" cy="606079"/>
            </a:xfrm>
            <a:prstGeom prst="rect">
              <a:avLst/>
            </a:prstGeom>
          </p:spPr>
          <p:txBody>
            <a:bodyPr lIns="0" tIns="0" rIns="0" bIns="0" rtlCol="0" anchor="t">
              <a:spAutoFit/>
            </a:bodyPr>
            <a:lstStyle/>
            <a:p>
              <a:pPr algn="l">
                <a:lnSpc>
                  <a:spcPts val="3354"/>
                </a:lnSpc>
              </a:pPr>
              <a:r>
                <a:rPr lang="en-US" sz="2699" b="1" u="sng">
                  <a:solidFill>
                    <a:srgbClr val="161613"/>
                  </a:solidFill>
                  <a:latin typeface="Calibri (MS) Bold"/>
                  <a:ea typeface="Calibri (MS) Bold"/>
                  <a:cs typeface="Calibri (MS) Bold"/>
                  <a:sym typeface="Calibri (MS) Bold"/>
                </a:rPr>
                <a:t>Lane Assist</a:t>
              </a:r>
            </a:p>
          </p:txBody>
        </p:sp>
        <p:sp>
          <p:nvSpPr>
            <p:cNvPr id="14" name="TextBox 14"/>
            <p:cNvSpPr txBox="1"/>
            <p:nvPr/>
          </p:nvSpPr>
          <p:spPr>
            <a:xfrm>
              <a:off x="0" y="1332052"/>
              <a:ext cx="6518072" cy="3591739"/>
            </a:xfrm>
            <a:prstGeom prst="rect">
              <a:avLst/>
            </a:prstGeom>
          </p:spPr>
          <p:txBody>
            <a:bodyPr lIns="0" tIns="0" rIns="0" bIns="0" rtlCol="0" anchor="t">
              <a:spAutoFit/>
            </a:bodyPr>
            <a:lstStyle/>
            <a:p>
              <a:pPr algn="l">
                <a:lnSpc>
                  <a:spcPts val="3557"/>
                </a:lnSpc>
              </a:pPr>
              <a:r>
                <a:rPr lang="en-US" sz="2499">
                  <a:solidFill>
                    <a:srgbClr val="161613"/>
                  </a:solidFill>
                  <a:latin typeface="Calibri (MS)"/>
                  <a:ea typeface="Calibri (MS)"/>
                  <a:cs typeface="Calibri (MS)"/>
                  <a:sym typeface="Calibri (MS)"/>
                </a:rPr>
                <a:t>Detects lane markings using cameras and monitors vehicle position. Warns driver with visual, audible, or haptic alerts if vehicle drifts from lane without signal. Gently corrects steering to keep vehicle centered.</a:t>
              </a:r>
            </a:p>
          </p:txBody>
        </p:sp>
        <p:sp>
          <p:nvSpPr>
            <p:cNvPr id="15" name="Freeform 15" descr="preencoded.png"/>
            <p:cNvSpPr/>
            <p:nvPr/>
          </p:nvSpPr>
          <p:spPr>
            <a:xfrm>
              <a:off x="6838747" y="0"/>
              <a:ext cx="284162" cy="284162"/>
            </a:xfrm>
            <a:custGeom>
              <a:avLst/>
              <a:gdLst/>
              <a:ahLst/>
              <a:cxnLst/>
              <a:rect l="l" t="t" r="r" b="b"/>
              <a:pathLst>
                <a:path w="284162" h="284162">
                  <a:moveTo>
                    <a:pt x="0" y="0"/>
                  </a:moveTo>
                  <a:lnTo>
                    <a:pt x="284162" y="0"/>
                  </a:lnTo>
                  <a:lnTo>
                    <a:pt x="284162" y="284163"/>
                  </a:lnTo>
                  <a:lnTo>
                    <a:pt x="0" y="284163"/>
                  </a:lnTo>
                  <a:lnTo>
                    <a:pt x="0" y="0"/>
                  </a:lnTo>
                  <a:close/>
                </a:path>
              </a:pathLst>
            </a:custGeom>
            <a:blipFill>
              <a:blip r:embed="rId6">
                <a:extLst>
                  <a:ext uri="{96DAC541-7B7A-43D3-8B79-37D633B846F1}">
                    <asvg:svgBlip xmlns:asvg="http://schemas.microsoft.com/office/drawing/2016/SVG/main" r:embed="rId7"/>
                  </a:ext>
                </a:extLst>
              </a:blip>
              <a:stretch>
                <a:fillRect t="-2172" b="-2176"/>
              </a:stretch>
            </a:blipFill>
          </p:spPr>
        </p:sp>
        <p:grpSp>
          <p:nvGrpSpPr>
            <p:cNvPr id="16" name="Group 16"/>
            <p:cNvGrpSpPr/>
            <p:nvPr/>
          </p:nvGrpSpPr>
          <p:grpSpPr>
            <a:xfrm>
              <a:off x="6838747" y="409575"/>
              <a:ext cx="6518275" cy="38100"/>
              <a:chOff x="0" y="0"/>
              <a:chExt cx="6518275" cy="38100"/>
            </a:xfrm>
          </p:grpSpPr>
          <p:sp>
            <p:nvSpPr>
              <p:cNvPr id="17" name="Freeform 17"/>
              <p:cNvSpPr/>
              <p:nvPr/>
            </p:nvSpPr>
            <p:spPr>
              <a:xfrm>
                <a:off x="0" y="0"/>
                <a:ext cx="6518275" cy="38100"/>
              </a:xfrm>
              <a:custGeom>
                <a:avLst/>
                <a:gdLst/>
                <a:ahLst/>
                <a:cxnLst/>
                <a:rect l="l" t="t" r="r" b="b"/>
                <a:pathLst>
                  <a:path w="6518275" h="38100">
                    <a:moveTo>
                      <a:pt x="0" y="0"/>
                    </a:moveTo>
                    <a:lnTo>
                      <a:pt x="6518275" y="0"/>
                    </a:lnTo>
                    <a:lnTo>
                      <a:pt x="6518275" y="38100"/>
                    </a:lnTo>
                    <a:lnTo>
                      <a:pt x="0" y="38100"/>
                    </a:lnTo>
                    <a:close/>
                  </a:path>
                </a:pathLst>
              </a:custGeom>
              <a:solidFill>
                <a:srgbClr val="28282F"/>
              </a:solidFill>
            </p:spPr>
          </p:sp>
        </p:grpSp>
        <p:sp>
          <p:nvSpPr>
            <p:cNvPr id="18" name="TextBox 18"/>
            <p:cNvSpPr txBox="1"/>
            <p:nvPr/>
          </p:nvSpPr>
          <p:spPr>
            <a:xfrm>
              <a:off x="6838747" y="561175"/>
              <a:ext cx="5372111" cy="569415"/>
            </a:xfrm>
            <a:prstGeom prst="rect">
              <a:avLst/>
            </a:prstGeom>
          </p:spPr>
          <p:txBody>
            <a:bodyPr lIns="0" tIns="0" rIns="0" bIns="0" rtlCol="0" anchor="t">
              <a:spAutoFit/>
            </a:bodyPr>
            <a:lstStyle/>
            <a:p>
              <a:pPr algn="l">
                <a:lnSpc>
                  <a:spcPts val="3106"/>
                </a:lnSpc>
              </a:pPr>
              <a:r>
                <a:rPr lang="en-US" sz="2499" b="1" u="sng">
                  <a:solidFill>
                    <a:srgbClr val="161613"/>
                  </a:solidFill>
                  <a:latin typeface="Calibri (MS) Bold"/>
                  <a:ea typeface="Calibri (MS) Bold"/>
                  <a:cs typeface="Calibri (MS) Bold"/>
                  <a:sym typeface="Calibri (MS) Bold"/>
                </a:rPr>
                <a:t>Collision Avoidance System</a:t>
              </a:r>
            </a:p>
          </p:txBody>
        </p:sp>
        <p:sp>
          <p:nvSpPr>
            <p:cNvPr id="19" name="TextBox 19"/>
            <p:cNvSpPr txBox="1"/>
            <p:nvPr/>
          </p:nvSpPr>
          <p:spPr>
            <a:xfrm>
              <a:off x="6838747" y="1332052"/>
              <a:ext cx="6518275" cy="3591739"/>
            </a:xfrm>
            <a:prstGeom prst="rect">
              <a:avLst/>
            </a:prstGeom>
          </p:spPr>
          <p:txBody>
            <a:bodyPr lIns="0" tIns="0" rIns="0" bIns="0" rtlCol="0" anchor="t">
              <a:spAutoFit/>
            </a:bodyPr>
            <a:lstStyle/>
            <a:p>
              <a:pPr algn="l">
                <a:lnSpc>
                  <a:spcPts val="3557"/>
                </a:lnSpc>
              </a:pPr>
              <a:r>
                <a:rPr lang="en-US" sz="2499">
                  <a:solidFill>
                    <a:srgbClr val="161613"/>
                  </a:solidFill>
                  <a:latin typeface="Calibri (MS)"/>
                  <a:ea typeface="Calibri (MS)"/>
                  <a:cs typeface="Calibri (MS)"/>
                  <a:sym typeface="Calibri (MS)"/>
                </a:rPr>
                <a:t>Continuously scans road ahead using radar and cameras. Detects potential collisions with vehicles, pedestrians, or obstacles. Provides escalating warnings and can pre-charge brakes for faster response.</a:t>
              </a:r>
            </a:p>
          </p:txBody>
        </p:sp>
        <p:sp>
          <p:nvSpPr>
            <p:cNvPr id="20" name="Freeform 20" descr="preencoded.png"/>
            <p:cNvSpPr/>
            <p:nvPr/>
          </p:nvSpPr>
          <p:spPr>
            <a:xfrm>
              <a:off x="53480" y="5555844"/>
              <a:ext cx="284162" cy="284162"/>
            </a:xfrm>
            <a:custGeom>
              <a:avLst/>
              <a:gdLst/>
              <a:ahLst/>
              <a:cxnLst/>
              <a:rect l="l" t="t" r="r" b="b"/>
              <a:pathLst>
                <a:path w="284162" h="284162">
                  <a:moveTo>
                    <a:pt x="0" y="0"/>
                  </a:moveTo>
                  <a:lnTo>
                    <a:pt x="284162" y="0"/>
                  </a:lnTo>
                  <a:lnTo>
                    <a:pt x="284162" y="284163"/>
                  </a:lnTo>
                  <a:lnTo>
                    <a:pt x="0" y="284163"/>
                  </a:lnTo>
                  <a:lnTo>
                    <a:pt x="0" y="0"/>
                  </a:lnTo>
                  <a:close/>
                </a:path>
              </a:pathLst>
            </a:custGeom>
            <a:blipFill>
              <a:blip r:embed="rId8">
                <a:extLst>
                  <a:ext uri="{96DAC541-7B7A-43D3-8B79-37D633B846F1}">
                    <asvg:svgBlip xmlns:asvg="http://schemas.microsoft.com/office/drawing/2016/SVG/main" r:embed="rId9"/>
                  </a:ext>
                </a:extLst>
              </a:blip>
              <a:stretch>
                <a:fillRect t="-15217" b="-15217"/>
              </a:stretch>
            </a:blipFill>
          </p:spPr>
        </p:sp>
        <p:grpSp>
          <p:nvGrpSpPr>
            <p:cNvPr id="21" name="Group 21"/>
            <p:cNvGrpSpPr/>
            <p:nvPr/>
          </p:nvGrpSpPr>
          <p:grpSpPr>
            <a:xfrm>
              <a:off x="53480" y="5965419"/>
              <a:ext cx="13250062" cy="38100"/>
              <a:chOff x="0" y="0"/>
              <a:chExt cx="13250062" cy="38100"/>
            </a:xfrm>
          </p:grpSpPr>
          <p:sp>
            <p:nvSpPr>
              <p:cNvPr id="22" name="Freeform 22"/>
              <p:cNvSpPr/>
              <p:nvPr/>
            </p:nvSpPr>
            <p:spPr>
              <a:xfrm>
                <a:off x="0" y="0"/>
                <a:ext cx="13250038" cy="38100"/>
              </a:xfrm>
              <a:custGeom>
                <a:avLst/>
                <a:gdLst/>
                <a:ahLst/>
                <a:cxnLst/>
                <a:rect l="l" t="t" r="r" b="b"/>
                <a:pathLst>
                  <a:path w="13250038" h="38100">
                    <a:moveTo>
                      <a:pt x="0" y="0"/>
                    </a:moveTo>
                    <a:lnTo>
                      <a:pt x="13250038" y="0"/>
                    </a:lnTo>
                    <a:lnTo>
                      <a:pt x="13250038" y="38100"/>
                    </a:lnTo>
                    <a:lnTo>
                      <a:pt x="0" y="38100"/>
                    </a:lnTo>
                    <a:close/>
                  </a:path>
                </a:pathLst>
              </a:custGeom>
              <a:solidFill>
                <a:srgbClr val="28282F"/>
              </a:solidFill>
            </p:spPr>
          </p:sp>
        </p:grpSp>
        <p:sp>
          <p:nvSpPr>
            <p:cNvPr id="23" name="TextBox 23"/>
            <p:cNvSpPr txBox="1"/>
            <p:nvPr/>
          </p:nvSpPr>
          <p:spPr>
            <a:xfrm>
              <a:off x="53480" y="6117019"/>
              <a:ext cx="6927348" cy="606079"/>
            </a:xfrm>
            <a:prstGeom prst="rect">
              <a:avLst/>
            </a:prstGeom>
          </p:spPr>
          <p:txBody>
            <a:bodyPr lIns="0" tIns="0" rIns="0" bIns="0" rtlCol="0" anchor="t">
              <a:spAutoFit/>
            </a:bodyPr>
            <a:lstStyle/>
            <a:p>
              <a:pPr algn="l">
                <a:lnSpc>
                  <a:spcPts val="3354"/>
                </a:lnSpc>
              </a:pPr>
              <a:r>
                <a:rPr lang="en-US" sz="2699" b="1" u="sng">
                  <a:solidFill>
                    <a:srgbClr val="161613"/>
                  </a:solidFill>
                  <a:latin typeface="Calibri (MS) Bold"/>
                  <a:ea typeface="Calibri (MS) Bold"/>
                  <a:cs typeface="Calibri (MS) Bold"/>
                  <a:sym typeface="Calibri (MS) Bold"/>
                </a:rPr>
                <a:t>Automatic Emergency Braking (AEB)</a:t>
              </a:r>
            </a:p>
          </p:txBody>
        </p:sp>
        <p:sp>
          <p:nvSpPr>
            <p:cNvPr id="24" name="TextBox 24"/>
            <p:cNvSpPr txBox="1"/>
            <p:nvPr/>
          </p:nvSpPr>
          <p:spPr>
            <a:xfrm>
              <a:off x="53480" y="6961223"/>
              <a:ext cx="13250062" cy="1801039"/>
            </a:xfrm>
            <a:prstGeom prst="rect">
              <a:avLst/>
            </a:prstGeom>
          </p:spPr>
          <p:txBody>
            <a:bodyPr lIns="0" tIns="0" rIns="0" bIns="0" rtlCol="0" anchor="t">
              <a:spAutoFit/>
            </a:bodyPr>
            <a:lstStyle/>
            <a:p>
              <a:pPr algn="l">
                <a:lnSpc>
                  <a:spcPts val="3557"/>
                </a:lnSpc>
              </a:pPr>
              <a:r>
                <a:rPr lang="en-US" sz="2499">
                  <a:solidFill>
                    <a:srgbClr val="161613"/>
                  </a:solidFill>
                  <a:latin typeface="Calibri (MS)"/>
                  <a:ea typeface="Calibri (MS)"/>
                  <a:cs typeface="Calibri (MS)"/>
                  <a:sym typeface="Calibri (MS)"/>
                </a:rPr>
                <a:t>Applies brakes automatically when high collision risk is detected and driver has not responded. Reduces accident severity or prevents collisions entirely. AEBs are most effective at urban speeds.</a:t>
              </a:r>
            </a:p>
          </p:txBody>
        </p:sp>
      </p:grpSp>
      <p:sp>
        <p:nvSpPr>
          <p:cNvPr id="25" name="TextBox 25"/>
          <p:cNvSpPr txBox="1"/>
          <p:nvPr/>
        </p:nvSpPr>
        <p:spPr>
          <a:xfrm>
            <a:off x="4709264" y="88882"/>
            <a:ext cx="8869471" cy="893959"/>
          </a:xfrm>
          <a:prstGeom prst="rect">
            <a:avLst/>
          </a:prstGeom>
        </p:spPr>
        <p:txBody>
          <a:bodyPr lIns="0" tIns="0" rIns="0" bIns="0" rtlCol="0" anchor="t">
            <a:spAutoFit/>
          </a:bodyPr>
          <a:lstStyle/>
          <a:p>
            <a:pPr algn="ctr">
              <a:lnSpc>
                <a:spcPts val="6235"/>
              </a:lnSpc>
            </a:pPr>
            <a:r>
              <a:rPr lang="en-US" sz="5000" b="1">
                <a:solidFill>
                  <a:srgbClr val="161613"/>
                </a:solidFill>
                <a:latin typeface="Calibri (MS) Bold"/>
                <a:ea typeface="Calibri (MS) Bold"/>
                <a:cs typeface="Calibri (MS) Bold"/>
                <a:sym typeface="Calibri (MS) Bold"/>
              </a:rPr>
              <a:t>Lane &amp; Collision Safety Systems</a:t>
            </a:r>
          </a:p>
        </p:txBody>
      </p:sp>
      <p:sp>
        <p:nvSpPr>
          <p:cNvPr id="26" name="TextBox 26"/>
          <p:cNvSpPr txBox="1"/>
          <p:nvPr/>
        </p:nvSpPr>
        <p:spPr>
          <a:xfrm>
            <a:off x="17460227" y="9929350"/>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272728">
                    <a:alpha val="47843"/>
                  </a:srgbClr>
                </a:solidFill>
                <a:latin typeface="Canva Sans"/>
                <a:ea typeface="Canva Sans"/>
                <a:cs typeface="Canva Sans"/>
                <a:sym typeface="Canva Sans"/>
              </a:rPr>
              <a:t>Page 10</a:t>
            </a:r>
          </a:p>
        </p:txBody>
      </p:sp>
      <p:sp>
        <p:nvSpPr>
          <p:cNvPr id="27" name="TextBox 27"/>
          <p:cNvSpPr txBox="1"/>
          <p:nvPr/>
        </p:nvSpPr>
        <p:spPr>
          <a:xfrm>
            <a:off x="250927" y="8302858"/>
            <a:ext cx="6858000" cy="1376874"/>
          </a:xfrm>
          <a:prstGeom prst="rect">
            <a:avLst/>
          </a:prstGeom>
        </p:spPr>
        <p:txBody>
          <a:bodyPr lIns="0" tIns="0" rIns="0" bIns="0" rtlCol="0" anchor="t">
            <a:spAutoFit/>
          </a:bodyPr>
          <a:lstStyle/>
          <a:p>
            <a:pPr algn="l">
              <a:lnSpc>
                <a:spcPts val="3557"/>
              </a:lnSpc>
            </a:pPr>
            <a:r>
              <a:rPr lang="en-US" sz="2499">
                <a:solidFill>
                  <a:srgbClr val="161613"/>
                </a:solidFill>
                <a:latin typeface="Calibri (MS)"/>
                <a:ea typeface="Calibri (MS)"/>
                <a:cs typeface="Calibri (MS)"/>
                <a:sym typeface="Calibri (MS)"/>
              </a:rPr>
              <a:t>This feature is present in Tesla Model Y as Autosteer and in Honda Civic cars. Modern Toyota Corolla have Pre-Collision systems built-in.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9F8F5"/>
            </a:solidFill>
          </p:spPr>
        </p:sp>
      </p:grpSp>
      <p:grpSp>
        <p:nvGrpSpPr>
          <p:cNvPr id="4" name="Group 4"/>
          <p:cNvGrpSpPr/>
          <p:nvPr/>
        </p:nvGrpSpPr>
        <p:grpSpPr>
          <a:xfrm>
            <a:off x="9025711" y="1582160"/>
            <a:ext cx="8906432" cy="7436673"/>
            <a:chOff x="0" y="0"/>
            <a:chExt cx="11875242" cy="9915565"/>
          </a:xfrm>
        </p:grpSpPr>
        <p:sp>
          <p:nvSpPr>
            <p:cNvPr id="5" name="Freeform 5"/>
            <p:cNvSpPr/>
            <p:nvPr/>
          </p:nvSpPr>
          <p:spPr>
            <a:xfrm>
              <a:off x="0" y="0"/>
              <a:ext cx="11875243" cy="9915565"/>
            </a:xfrm>
            <a:custGeom>
              <a:avLst/>
              <a:gdLst/>
              <a:ahLst/>
              <a:cxnLst/>
              <a:rect l="l" t="t" r="r" b="b"/>
              <a:pathLst>
                <a:path w="11875243" h="9915565">
                  <a:moveTo>
                    <a:pt x="0" y="0"/>
                  </a:moveTo>
                  <a:lnTo>
                    <a:pt x="11875243" y="0"/>
                  </a:lnTo>
                  <a:lnTo>
                    <a:pt x="11875243" y="9915565"/>
                  </a:lnTo>
                  <a:lnTo>
                    <a:pt x="0" y="9915565"/>
                  </a:lnTo>
                  <a:lnTo>
                    <a:pt x="0" y="0"/>
                  </a:lnTo>
                  <a:close/>
                </a:path>
              </a:pathLst>
            </a:custGeom>
            <a:blipFill>
              <a:blip r:embed="rId2"/>
              <a:stretch>
                <a:fillRect l="-5388" r="-5388"/>
              </a:stretch>
            </a:blipFill>
          </p:spPr>
        </p:sp>
      </p:grpSp>
      <p:sp>
        <p:nvSpPr>
          <p:cNvPr id="6" name="TextBox 6"/>
          <p:cNvSpPr txBox="1"/>
          <p:nvPr/>
        </p:nvSpPr>
        <p:spPr>
          <a:xfrm>
            <a:off x="3214059" y="51845"/>
            <a:ext cx="11859882" cy="893959"/>
          </a:xfrm>
          <a:prstGeom prst="rect">
            <a:avLst/>
          </a:prstGeom>
        </p:spPr>
        <p:txBody>
          <a:bodyPr lIns="0" tIns="0" rIns="0" bIns="0" rtlCol="0" anchor="t">
            <a:spAutoFit/>
          </a:bodyPr>
          <a:lstStyle/>
          <a:p>
            <a:pPr algn="ctr">
              <a:lnSpc>
                <a:spcPts val="6235"/>
              </a:lnSpc>
            </a:pPr>
            <a:r>
              <a:rPr lang="en-US" sz="5000" b="1">
                <a:solidFill>
                  <a:srgbClr val="161613"/>
                </a:solidFill>
                <a:latin typeface="Calibri (MS) Bold"/>
                <a:ea typeface="Calibri (MS) Bold"/>
                <a:cs typeface="Calibri (MS) Bold"/>
                <a:sym typeface="Calibri (MS) Bold"/>
              </a:rPr>
              <a:t>Vehicular Communication System</a:t>
            </a:r>
          </a:p>
        </p:txBody>
      </p:sp>
      <p:sp>
        <p:nvSpPr>
          <p:cNvPr id="7" name="TextBox 7"/>
          <p:cNvSpPr txBox="1"/>
          <p:nvPr/>
        </p:nvSpPr>
        <p:spPr>
          <a:xfrm>
            <a:off x="17460227" y="9929350"/>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272728">
                    <a:alpha val="47843"/>
                  </a:srgbClr>
                </a:solidFill>
                <a:latin typeface="Canva Sans"/>
                <a:ea typeface="Canva Sans"/>
                <a:cs typeface="Canva Sans"/>
                <a:sym typeface="Canva Sans"/>
              </a:rPr>
              <a:t>Page 11</a:t>
            </a:r>
          </a:p>
        </p:txBody>
      </p:sp>
      <p:grpSp>
        <p:nvGrpSpPr>
          <p:cNvPr id="8" name="Group 8"/>
          <p:cNvGrpSpPr/>
          <p:nvPr/>
        </p:nvGrpSpPr>
        <p:grpSpPr>
          <a:xfrm>
            <a:off x="384183" y="2412653"/>
            <a:ext cx="8085925" cy="6612604"/>
            <a:chOff x="0" y="0"/>
            <a:chExt cx="10781233" cy="8816806"/>
          </a:xfrm>
        </p:grpSpPr>
        <p:sp>
          <p:nvSpPr>
            <p:cNvPr id="9" name="TextBox 9"/>
            <p:cNvSpPr txBox="1"/>
            <p:nvPr/>
          </p:nvSpPr>
          <p:spPr>
            <a:xfrm>
              <a:off x="0" y="-76200"/>
              <a:ext cx="10781233" cy="7672226"/>
            </a:xfrm>
            <a:prstGeom prst="rect">
              <a:avLst/>
            </a:prstGeom>
          </p:spPr>
          <p:txBody>
            <a:bodyPr lIns="0" tIns="0" rIns="0" bIns="0" rtlCol="0" anchor="t">
              <a:spAutoFit/>
            </a:bodyPr>
            <a:lstStyle/>
            <a:p>
              <a:pPr algn="l">
                <a:lnSpc>
                  <a:spcPts val="3294"/>
                </a:lnSpc>
              </a:pPr>
              <a:r>
                <a:rPr lang="en-US" sz="2499">
                  <a:solidFill>
                    <a:srgbClr val="161613"/>
                  </a:solidFill>
                  <a:latin typeface="Calibri (MS)"/>
                  <a:ea typeface="Calibri (MS)"/>
                  <a:cs typeface="Calibri (MS)"/>
                  <a:sym typeface="Calibri (MS)"/>
                </a:rPr>
                <a:t>These systems are computer networks in which vehicles and roadside units are communicating nodes providing safety warning, traffic information and other essential information to each other. They come in 3 types:</a:t>
              </a:r>
            </a:p>
            <a:p>
              <a:pPr algn="l">
                <a:lnSpc>
                  <a:spcPts val="3294"/>
                </a:lnSpc>
              </a:pPr>
              <a:endParaRPr lang="en-US" sz="2499">
                <a:solidFill>
                  <a:srgbClr val="161613"/>
                </a:solidFill>
                <a:latin typeface="Calibri (MS)"/>
                <a:ea typeface="Calibri (MS)"/>
                <a:cs typeface="Calibri (MS)"/>
                <a:sym typeface="Calibri (MS)"/>
              </a:endParaRPr>
            </a:p>
            <a:p>
              <a:pPr marL="539749" lvl="1" indent="-269875" algn="l">
                <a:lnSpc>
                  <a:spcPts val="3294"/>
                </a:lnSpc>
                <a:buFont typeface="Arial"/>
                <a:buChar char="•"/>
              </a:pPr>
              <a:r>
                <a:rPr lang="en-US" sz="2499" b="1">
                  <a:solidFill>
                    <a:srgbClr val="161613"/>
                  </a:solidFill>
                  <a:latin typeface="Calibri (MS) Bold"/>
                  <a:ea typeface="Calibri (MS) Bold"/>
                  <a:cs typeface="Calibri (MS) Bold"/>
                  <a:sym typeface="Calibri (MS) Bold"/>
                </a:rPr>
                <a:t>V2V </a:t>
              </a:r>
              <a:r>
                <a:rPr lang="en-US" sz="2499">
                  <a:solidFill>
                    <a:srgbClr val="161613"/>
                  </a:solidFill>
                  <a:latin typeface="Calibri (MS)"/>
                  <a:ea typeface="Calibri (MS)"/>
                  <a:cs typeface="Calibri (MS)"/>
                  <a:sym typeface="Calibri (MS)"/>
                </a:rPr>
                <a:t>— Vehicle to Vehicle</a:t>
              </a:r>
            </a:p>
            <a:p>
              <a:pPr marL="539749" lvl="1" indent="-269875" algn="l">
                <a:lnSpc>
                  <a:spcPts val="3294"/>
                </a:lnSpc>
                <a:buFont typeface="Arial"/>
                <a:buChar char="•"/>
              </a:pPr>
              <a:r>
                <a:rPr lang="en-US" sz="2499" b="1">
                  <a:solidFill>
                    <a:srgbClr val="161613"/>
                  </a:solidFill>
                  <a:latin typeface="Calibri (MS) Bold"/>
                  <a:ea typeface="Calibri (MS) Bold"/>
                  <a:cs typeface="Calibri (MS) Bold"/>
                  <a:sym typeface="Calibri (MS) Bold"/>
                </a:rPr>
                <a:t>V2I </a:t>
              </a:r>
              <a:r>
                <a:rPr lang="en-US" sz="2499">
                  <a:solidFill>
                    <a:srgbClr val="161613"/>
                  </a:solidFill>
                  <a:latin typeface="Calibri (MS)"/>
                  <a:ea typeface="Calibri (MS)"/>
                  <a:cs typeface="Calibri (MS)"/>
                  <a:sym typeface="Calibri (MS)"/>
                </a:rPr>
                <a:t>— Vehicle to Infrastructure</a:t>
              </a:r>
            </a:p>
            <a:p>
              <a:pPr marL="539749" lvl="1" indent="-269875" algn="l">
                <a:lnSpc>
                  <a:spcPts val="3294"/>
                </a:lnSpc>
                <a:buFont typeface="Arial"/>
                <a:buChar char="•"/>
              </a:pPr>
              <a:r>
                <a:rPr lang="en-US" sz="2499" b="1">
                  <a:solidFill>
                    <a:srgbClr val="161613"/>
                  </a:solidFill>
                  <a:latin typeface="Calibri (MS) Bold"/>
                  <a:ea typeface="Calibri (MS) Bold"/>
                  <a:cs typeface="Calibri (MS) Bold"/>
                  <a:sym typeface="Calibri (MS) Bold"/>
                </a:rPr>
                <a:t>V2P </a:t>
              </a:r>
              <a:r>
                <a:rPr lang="en-US" sz="2499">
                  <a:solidFill>
                    <a:srgbClr val="161613"/>
                  </a:solidFill>
                  <a:latin typeface="Calibri (MS)"/>
                  <a:ea typeface="Calibri (MS)"/>
                  <a:cs typeface="Calibri (MS)"/>
                  <a:sym typeface="Calibri (MS)"/>
                </a:rPr>
                <a:t>— Vehicle to Pedestrian</a:t>
              </a:r>
            </a:p>
            <a:p>
              <a:pPr algn="l">
                <a:lnSpc>
                  <a:spcPts val="3294"/>
                </a:lnSpc>
              </a:pPr>
              <a:endParaRPr lang="en-US" sz="2499">
                <a:solidFill>
                  <a:srgbClr val="161613"/>
                </a:solidFill>
                <a:latin typeface="Calibri (MS)"/>
                <a:ea typeface="Calibri (MS)"/>
                <a:cs typeface="Calibri (MS)"/>
                <a:sym typeface="Calibri (MS)"/>
              </a:endParaRPr>
            </a:p>
            <a:p>
              <a:pPr algn="l">
                <a:lnSpc>
                  <a:spcPts val="3294"/>
                </a:lnSpc>
              </a:pPr>
              <a:endParaRPr lang="en-US" sz="2499">
                <a:solidFill>
                  <a:srgbClr val="161613"/>
                </a:solidFill>
                <a:latin typeface="Calibri (MS)"/>
                <a:ea typeface="Calibri (MS)"/>
                <a:cs typeface="Calibri (MS)"/>
                <a:sym typeface="Calibri (MS)"/>
              </a:endParaRPr>
            </a:p>
            <a:p>
              <a:pPr algn="l">
                <a:lnSpc>
                  <a:spcPts val="3294"/>
                </a:lnSpc>
              </a:pPr>
              <a:r>
                <a:rPr lang="en-US" sz="2499" b="1">
                  <a:solidFill>
                    <a:srgbClr val="161613"/>
                  </a:solidFill>
                  <a:latin typeface="Calibri (MS) Bold"/>
                  <a:ea typeface="Calibri (MS) Bold"/>
                  <a:cs typeface="Calibri (MS) Bold"/>
                  <a:sym typeface="Calibri (MS) Bold"/>
                </a:rPr>
                <a:t>Example:</a:t>
              </a:r>
            </a:p>
            <a:p>
              <a:pPr algn="l">
                <a:lnSpc>
                  <a:spcPts val="3294"/>
                </a:lnSpc>
              </a:pPr>
              <a:r>
                <a:rPr lang="en-US" sz="2499">
                  <a:solidFill>
                    <a:srgbClr val="161613"/>
                  </a:solidFill>
                  <a:latin typeface="Calibri (MS)"/>
                  <a:ea typeface="Calibri (MS)"/>
                  <a:cs typeface="Calibri (MS)"/>
                  <a:sym typeface="Calibri (MS)"/>
                </a:rPr>
                <a:t> A vehicle can warn another car ahead about sudden braking or road hazards (V2V).</a:t>
              </a:r>
            </a:p>
            <a:p>
              <a:pPr algn="l">
                <a:lnSpc>
                  <a:spcPts val="3295"/>
                </a:lnSpc>
              </a:pPr>
              <a:endParaRPr lang="en-US" sz="2499">
                <a:solidFill>
                  <a:srgbClr val="161613"/>
                </a:solidFill>
                <a:latin typeface="Calibri (MS)"/>
                <a:ea typeface="Calibri (MS)"/>
                <a:cs typeface="Calibri (MS)"/>
                <a:sym typeface="Calibri (MS)"/>
              </a:endParaRPr>
            </a:p>
          </p:txBody>
        </p:sp>
        <p:sp>
          <p:nvSpPr>
            <p:cNvPr id="10" name="TextBox 10"/>
            <p:cNvSpPr txBox="1"/>
            <p:nvPr/>
          </p:nvSpPr>
          <p:spPr>
            <a:xfrm>
              <a:off x="0" y="7612755"/>
              <a:ext cx="10781233" cy="1204051"/>
            </a:xfrm>
            <a:prstGeom prst="rect">
              <a:avLst/>
            </a:prstGeom>
          </p:spPr>
          <p:txBody>
            <a:bodyPr lIns="0" tIns="0" rIns="0" bIns="0" rtlCol="0" anchor="t">
              <a:spAutoFit/>
            </a:bodyPr>
            <a:lstStyle/>
            <a:p>
              <a:pPr algn="l">
                <a:lnSpc>
                  <a:spcPts val="3557"/>
                </a:lnSpc>
              </a:pPr>
              <a:r>
                <a:rPr lang="en-US" sz="2499">
                  <a:solidFill>
                    <a:srgbClr val="161613"/>
                  </a:solidFill>
                  <a:latin typeface="Calibri (MS)"/>
                  <a:ea typeface="Calibri (MS)"/>
                  <a:cs typeface="Calibri (MS)"/>
                  <a:sym typeface="Calibri (MS)"/>
                </a:rPr>
                <a:t>Luxury cars like Cadillac CTS have built-in V2V communication systems.</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6E2DB"/>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9F8F5"/>
            </a:solidFill>
          </p:spPr>
        </p:sp>
      </p:grpSp>
      <p:sp>
        <p:nvSpPr>
          <p:cNvPr id="6" name="TextBox 6"/>
          <p:cNvSpPr txBox="1"/>
          <p:nvPr/>
        </p:nvSpPr>
        <p:spPr>
          <a:xfrm>
            <a:off x="809291" y="968275"/>
            <a:ext cx="3292376" cy="439290"/>
          </a:xfrm>
          <a:prstGeom prst="rect">
            <a:avLst/>
          </a:prstGeom>
        </p:spPr>
        <p:txBody>
          <a:bodyPr lIns="0" tIns="0" rIns="0" bIns="0" rtlCol="0" anchor="t">
            <a:spAutoFit/>
          </a:bodyPr>
          <a:lstStyle/>
          <a:p>
            <a:pPr algn="l">
              <a:lnSpc>
                <a:spcPts val="3141"/>
              </a:lnSpc>
            </a:pPr>
            <a:r>
              <a:rPr lang="en-US" sz="2499" b="1">
                <a:solidFill>
                  <a:srgbClr val="161613"/>
                </a:solidFill>
                <a:latin typeface="Calibri (MS) Bold"/>
                <a:ea typeface="Calibri (MS) Bold"/>
                <a:cs typeface="Calibri (MS) Bold"/>
                <a:sym typeface="Calibri (MS) Bold"/>
              </a:rPr>
              <a:t>Vision &amp; Display Systems</a:t>
            </a:r>
          </a:p>
        </p:txBody>
      </p:sp>
      <p:grpSp>
        <p:nvGrpSpPr>
          <p:cNvPr id="7" name="Group 7"/>
          <p:cNvGrpSpPr/>
          <p:nvPr/>
        </p:nvGrpSpPr>
        <p:grpSpPr>
          <a:xfrm>
            <a:off x="809291" y="2718432"/>
            <a:ext cx="7023570" cy="7466780"/>
            <a:chOff x="0" y="0"/>
            <a:chExt cx="9364759" cy="9955707"/>
          </a:xfrm>
        </p:grpSpPr>
        <p:grpSp>
          <p:nvGrpSpPr>
            <p:cNvPr id="8" name="Group 8"/>
            <p:cNvGrpSpPr/>
            <p:nvPr/>
          </p:nvGrpSpPr>
          <p:grpSpPr>
            <a:xfrm>
              <a:off x="76894" y="0"/>
              <a:ext cx="9287866" cy="3231974"/>
              <a:chOff x="0" y="0"/>
              <a:chExt cx="9287866" cy="3231974"/>
            </a:xfrm>
          </p:grpSpPr>
          <p:sp>
            <p:nvSpPr>
              <p:cNvPr id="9" name="Freeform 9"/>
              <p:cNvSpPr/>
              <p:nvPr/>
            </p:nvSpPr>
            <p:spPr>
              <a:xfrm>
                <a:off x="19050" y="24971"/>
                <a:ext cx="9249791" cy="3182015"/>
              </a:xfrm>
              <a:custGeom>
                <a:avLst/>
                <a:gdLst/>
                <a:ahLst/>
                <a:cxnLst/>
                <a:rect l="l" t="t" r="r" b="b"/>
                <a:pathLst>
                  <a:path w="9249791" h="3182015">
                    <a:moveTo>
                      <a:pt x="0" y="239725"/>
                    </a:moveTo>
                    <a:cubicBezTo>
                      <a:pt x="0" y="107377"/>
                      <a:pt x="82804" y="0"/>
                      <a:pt x="185039" y="0"/>
                    </a:cubicBezTo>
                    <a:lnTo>
                      <a:pt x="9064752" y="0"/>
                    </a:lnTo>
                    <a:cubicBezTo>
                      <a:pt x="9166860" y="0"/>
                      <a:pt x="9249791" y="107377"/>
                      <a:pt x="9249791" y="239725"/>
                    </a:cubicBezTo>
                    <a:lnTo>
                      <a:pt x="9249791" y="2942291"/>
                    </a:lnTo>
                    <a:cubicBezTo>
                      <a:pt x="9249791" y="3074638"/>
                      <a:pt x="9166987" y="3182015"/>
                      <a:pt x="9064752" y="3182015"/>
                    </a:cubicBezTo>
                    <a:lnTo>
                      <a:pt x="185039" y="3182015"/>
                    </a:lnTo>
                    <a:cubicBezTo>
                      <a:pt x="82931" y="3182015"/>
                      <a:pt x="0" y="3074638"/>
                      <a:pt x="0" y="2942291"/>
                    </a:cubicBezTo>
                    <a:close/>
                  </a:path>
                </a:pathLst>
              </a:custGeom>
              <a:solidFill>
                <a:srgbClr val="F9F8F5"/>
              </a:solidFill>
            </p:spPr>
          </p:sp>
          <p:sp>
            <p:nvSpPr>
              <p:cNvPr id="10" name="Freeform 10"/>
              <p:cNvSpPr/>
              <p:nvPr/>
            </p:nvSpPr>
            <p:spPr>
              <a:xfrm>
                <a:off x="0" y="0"/>
                <a:ext cx="9287891" cy="3231958"/>
              </a:xfrm>
              <a:custGeom>
                <a:avLst/>
                <a:gdLst/>
                <a:ahLst/>
                <a:cxnLst/>
                <a:rect l="l" t="t" r="r" b="b"/>
                <a:pathLst>
                  <a:path w="9287891" h="3231958">
                    <a:moveTo>
                      <a:pt x="0" y="264696"/>
                    </a:moveTo>
                    <a:cubicBezTo>
                      <a:pt x="0" y="118198"/>
                      <a:pt x="91567" y="0"/>
                      <a:pt x="204089" y="0"/>
                    </a:cubicBezTo>
                    <a:lnTo>
                      <a:pt x="9083802" y="0"/>
                    </a:lnTo>
                    <a:lnTo>
                      <a:pt x="9083802" y="24971"/>
                    </a:lnTo>
                    <a:lnTo>
                      <a:pt x="9083802" y="0"/>
                    </a:lnTo>
                    <a:cubicBezTo>
                      <a:pt x="9196324" y="0"/>
                      <a:pt x="9287891" y="118198"/>
                      <a:pt x="9287891" y="264696"/>
                    </a:cubicBezTo>
                    <a:lnTo>
                      <a:pt x="9268841" y="264696"/>
                    </a:lnTo>
                    <a:lnTo>
                      <a:pt x="9287891" y="264696"/>
                    </a:lnTo>
                    <a:lnTo>
                      <a:pt x="9287891" y="2967262"/>
                    </a:lnTo>
                    <a:lnTo>
                      <a:pt x="9268841" y="2967262"/>
                    </a:lnTo>
                    <a:lnTo>
                      <a:pt x="9287891" y="2967262"/>
                    </a:lnTo>
                    <a:cubicBezTo>
                      <a:pt x="9287891" y="3113760"/>
                      <a:pt x="9196324" y="3231958"/>
                      <a:pt x="9083802" y="3231958"/>
                    </a:cubicBezTo>
                    <a:lnTo>
                      <a:pt x="9083802" y="3206986"/>
                    </a:lnTo>
                    <a:lnTo>
                      <a:pt x="9083802" y="3231958"/>
                    </a:lnTo>
                    <a:lnTo>
                      <a:pt x="204089" y="3231958"/>
                    </a:lnTo>
                    <a:lnTo>
                      <a:pt x="204089" y="3206986"/>
                    </a:lnTo>
                    <a:lnTo>
                      <a:pt x="204089" y="3231958"/>
                    </a:lnTo>
                    <a:cubicBezTo>
                      <a:pt x="91567" y="3231958"/>
                      <a:pt x="0" y="3113760"/>
                      <a:pt x="0" y="2967262"/>
                    </a:cubicBezTo>
                    <a:lnTo>
                      <a:pt x="0" y="264696"/>
                    </a:lnTo>
                    <a:lnTo>
                      <a:pt x="19050" y="264696"/>
                    </a:lnTo>
                    <a:lnTo>
                      <a:pt x="0" y="264696"/>
                    </a:lnTo>
                    <a:moveTo>
                      <a:pt x="38100" y="264696"/>
                    </a:moveTo>
                    <a:lnTo>
                      <a:pt x="38100" y="2967262"/>
                    </a:lnTo>
                    <a:lnTo>
                      <a:pt x="19050" y="2967262"/>
                    </a:lnTo>
                    <a:lnTo>
                      <a:pt x="38100" y="2967262"/>
                    </a:lnTo>
                    <a:cubicBezTo>
                      <a:pt x="38100" y="3085626"/>
                      <a:pt x="112141" y="3182015"/>
                      <a:pt x="204089" y="3182015"/>
                    </a:cubicBezTo>
                    <a:lnTo>
                      <a:pt x="9083802" y="3182015"/>
                    </a:lnTo>
                    <a:cubicBezTo>
                      <a:pt x="9175623" y="3182015"/>
                      <a:pt x="9249791" y="3085626"/>
                      <a:pt x="9249791" y="2967262"/>
                    </a:cubicBezTo>
                    <a:lnTo>
                      <a:pt x="9249791" y="264696"/>
                    </a:lnTo>
                    <a:cubicBezTo>
                      <a:pt x="9249791" y="146332"/>
                      <a:pt x="9175750" y="49943"/>
                      <a:pt x="9083802" y="49943"/>
                    </a:cubicBezTo>
                    <a:lnTo>
                      <a:pt x="204089" y="49943"/>
                    </a:lnTo>
                    <a:lnTo>
                      <a:pt x="204089" y="24971"/>
                    </a:lnTo>
                    <a:lnTo>
                      <a:pt x="204089" y="49943"/>
                    </a:lnTo>
                    <a:cubicBezTo>
                      <a:pt x="112141" y="49943"/>
                      <a:pt x="38100" y="146332"/>
                      <a:pt x="38100" y="264696"/>
                    </a:cubicBezTo>
                    <a:close/>
                  </a:path>
                </a:pathLst>
              </a:custGeom>
              <a:solidFill>
                <a:srgbClr val="D3D1C9"/>
              </a:solidFill>
            </p:spPr>
          </p:sp>
        </p:grpSp>
        <p:grpSp>
          <p:nvGrpSpPr>
            <p:cNvPr id="11" name="Group 11"/>
            <p:cNvGrpSpPr/>
            <p:nvPr/>
          </p:nvGrpSpPr>
          <p:grpSpPr>
            <a:xfrm>
              <a:off x="57844" y="19050"/>
              <a:ext cx="152400" cy="2989090"/>
              <a:chOff x="0" y="0"/>
              <a:chExt cx="152400" cy="2989090"/>
            </a:xfrm>
          </p:grpSpPr>
          <p:sp>
            <p:nvSpPr>
              <p:cNvPr id="12" name="Freeform 12"/>
              <p:cNvSpPr/>
              <p:nvPr/>
            </p:nvSpPr>
            <p:spPr>
              <a:xfrm>
                <a:off x="0" y="0"/>
                <a:ext cx="152400" cy="2989075"/>
              </a:xfrm>
              <a:custGeom>
                <a:avLst/>
                <a:gdLst/>
                <a:ahLst/>
                <a:cxnLst/>
                <a:rect l="l" t="t" r="r" b="b"/>
                <a:pathLst>
                  <a:path w="152400" h="2989075">
                    <a:moveTo>
                      <a:pt x="0" y="51293"/>
                    </a:moveTo>
                    <a:cubicBezTo>
                      <a:pt x="0" y="22988"/>
                      <a:pt x="18669" y="0"/>
                      <a:pt x="41656" y="0"/>
                    </a:cubicBezTo>
                    <a:lnTo>
                      <a:pt x="110744" y="0"/>
                    </a:lnTo>
                    <a:cubicBezTo>
                      <a:pt x="133731" y="0"/>
                      <a:pt x="152400" y="22988"/>
                      <a:pt x="152400" y="51293"/>
                    </a:cubicBezTo>
                    <a:lnTo>
                      <a:pt x="152400" y="2937782"/>
                    </a:lnTo>
                    <a:cubicBezTo>
                      <a:pt x="152400" y="2966086"/>
                      <a:pt x="133731" y="2989075"/>
                      <a:pt x="110744" y="2989075"/>
                    </a:cubicBezTo>
                    <a:lnTo>
                      <a:pt x="41656" y="2989075"/>
                    </a:lnTo>
                    <a:cubicBezTo>
                      <a:pt x="18669" y="2989075"/>
                      <a:pt x="0" y="2966086"/>
                      <a:pt x="0" y="2937782"/>
                    </a:cubicBezTo>
                    <a:close/>
                  </a:path>
                </a:pathLst>
              </a:custGeom>
              <a:solidFill>
                <a:srgbClr val="28282F"/>
              </a:solidFill>
            </p:spPr>
          </p:sp>
        </p:grpSp>
        <p:sp>
          <p:nvSpPr>
            <p:cNvPr id="13" name="TextBox 13"/>
            <p:cNvSpPr txBox="1"/>
            <p:nvPr/>
          </p:nvSpPr>
          <p:spPr>
            <a:xfrm>
              <a:off x="526156" y="277813"/>
              <a:ext cx="5273873" cy="544830"/>
            </a:xfrm>
            <a:prstGeom prst="rect">
              <a:avLst/>
            </a:prstGeom>
          </p:spPr>
          <p:txBody>
            <a:bodyPr lIns="0" tIns="0" rIns="0" bIns="0" rtlCol="0" anchor="t">
              <a:spAutoFit/>
            </a:bodyPr>
            <a:lstStyle/>
            <a:p>
              <a:pPr algn="l">
                <a:lnSpc>
                  <a:spcPts val="3075"/>
                </a:lnSpc>
              </a:pPr>
              <a:r>
                <a:rPr lang="en-US" sz="2400" b="1" u="sng">
                  <a:solidFill>
                    <a:srgbClr val="161613"/>
                  </a:solidFill>
                  <a:latin typeface="Calibri (MS) Bold"/>
                  <a:ea typeface="Calibri (MS) Bold"/>
                  <a:cs typeface="Calibri (MS) Bold"/>
                  <a:sym typeface="Calibri (MS) Bold"/>
                </a:rPr>
                <a:t>Automotive Head-Up Display</a:t>
              </a:r>
            </a:p>
          </p:txBody>
        </p:sp>
        <p:sp>
          <p:nvSpPr>
            <p:cNvPr id="14" name="TextBox 14"/>
            <p:cNvSpPr txBox="1"/>
            <p:nvPr/>
          </p:nvSpPr>
          <p:spPr>
            <a:xfrm>
              <a:off x="526156" y="878078"/>
              <a:ext cx="8503641" cy="2353896"/>
            </a:xfrm>
            <a:prstGeom prst="rect">
              <a:avLst/>
            </a:prstGeom>
          </p:spPr>
          <p:txBody>
            <a:bodyPr lIns="0" tIns="0" rIns="0" bIns="0" rtlCol="0" anchor="t">
              <a:spAutoFit/>
            </a:bodyPr>
            <a:lstStyle/>
            <a:p>
              <a:pPr algn="l">
                <a:lnSpc>
                  <a:spcPts val="3461"/>
                </a:lnSpc>
              </a:pPr>
              <a:r>
                <a:rPr lang="en-US" sz="2499">
                  <a:solidFill>
                    <a:srgbClr val="161613"/>
                  </a:solidFill>
                  <a:latin typeface="Calibri (MS)"/>
                  <a:ea typeface="Calibri (MS)"/>
                  <a:cs typeface="Calibri (MS)"/>
                  <a:sym typeface="Calibri (MS)"/>
                </a:rPr>
                <a:t>Projects critical driving information onto windshield, allowing driver to keep eyes on road instead of looking down. Displays speed, navigation, warnings without looking down.</a:t>
              </a:r>
            </a:p>
          </p:txBody>
        </p:sp>
        <p:grpSp>
          <p:nvGrpSpPr>
            <p:cNvPr id="15" name="Group 15"/>
            <p:cNvGrpSpPr/>
            <p:nvPr/>
          </p:nvGrpSpPr>
          <p:grpSpPr>
            <a:xfrm>
              <a:off x="19050" y="3267958"/>
              <a:ext cx="9287866" cy="3366992"/>
              <a:chOff x="0" y="0"/>
              <a:chExt cx="9287866" cy="3366992"/>
            </a:xfrm>
          </p:grpSpPr>
          <p:sp>
            <p:nvSpPr>
              <p:cNvPr id="16" name="Freeform 16"/>
              <p:cNvSpPr/>
              <p:nvPr/>
            </p:nvSpPr>
            <p:spPr>
              <a:xfrm>
                <a:off x="19050" y="26015"/>
                <a:ext cx="9249791" cy="3314946"/>
              </a:xfrm>
              <a:custGeom>
                <a:avLst/>
                <a:gdLst/>
                <a:ahLst/>
                <a:cxnLst/>
                <a:rect l="l" t="t" r="r" b="b"/>
                <a:pathLst>
                  <a:path w="9249791" h="3314946">
                    <a:moveTo>
                      <a:pt x="0" y="249739"/>
                    </a:moveTo>
                    <a:cubicBezTo>
                      <a:pt x="0" y="111862"/>
                      <a:pt x="82804" y="0"/>
                      <a:pt x="185039" y="0"/>
                    </a:cubicBezTo>
                    <a:lnTo>
                      <a:pt x="9064752" y="0"/>
                    </a:lnTo>
                    <a:cubicBezTo>
                      <a:pt x="9166860" y="0"/>
                      <a:pt x="9249791" y="111862"/>
                      <a:pt x="9249791" y="249739"/>
                    </a:cubicBezTo>
                    <a:lnTo>
                      <a:pt x="9249791" y="3065206"/>
                    </a:lnTo>
                    <a:cubicBezTo>
                      <a:pt x="9249791" y="3203083"/>
                      <a:pt x="9166987" y="3314945"/>
                      <a:pt x="9064752" y="3314945"/>
                    </a:cubicBezTo>
                    <a:lnTo>
                      <a:pt x="185039" y="3314945"/>
                    </a:lnTo>
                    <a:cubicBezTo>
                      <a:pt x="82931" y="3314945"/>
                      <a:pt x="0" y="3203083"/>
                      <a:pt x="0" y="3065206"/>
                    </a:cubicBezTo>
                    <a:close/>
                  </a:path>
                </a:pathLst>
              </a:custGeom>
              <a:solidFill>
                <a:srgbClr val="F9F8F5"/>
              </a:solidFill>
            </p:spPr>
          </p:sp>
          <p:sp>
            <p:nvSpPr>
              <p:cNvPr id="17" name="Freeform 17"/>
              <p:cNvSpPr/>
              <p:nvPr/>
            </p:nvSpPr>
            <p:spPr>
              <a:xfrm>
                <a:off x="0" y="0"/>
                <a:ext cx="9287891" cy="3366975"/>
              </a:xfrm>
              <a:custGeom>
                <a:avLst/>
                <a:gdLst/>
                <a:ahLst/>
                <a:cxnLst/>
                <a:rect l="l" t="t" r="r" b="b"/>
                <a:pathLst>
                  <a:path w="9287891" h="3366975">
                    <a:moveTo>
                      <a:pt x="0" y="275754"/>
                    </a:moveTo>
                    <a:cubicBezTo>
                      <a:pt x="0" y="123135"/>
                      <a:pt x="91567" y="0"/>
                      <a:pt x="204089" y="0"/>
                    </a:cubicBezTo>
                    <a:lnTo>
                      <a:pt x="9083802" y="0"/>
                    </a:lnTo>
                    <a:lnTo>
                      <a:pt x="9083802" y="26015"/>
                    </a:lnTo>
                    <a:lnTo>
                      <a:pt x="9083802" y="0"/>
                    </a:lnTo>
                    <a:cubicBezTo>
                      <a:pt x="9196324" y="0"/>
                      <a:pt x="9287891" y="123135"/>
                      <a:pt x="9287891" y="275754"/>
                    </a:cubicBezTo>
                    <a:lnTo>
                      <a:pt x="9268841" y="275754"/>
                    </a:lnTo>
                    <a:lnTo>
                      <a:pt x="9287891" y="275754"/>
                    </a:lnTo>
                    <a:lnTo>
                      <a:pt x="9287891" y="3091221"/>
                    </a:lnTo>
                    <a:lnTo>
                      <a:pt x="9268841" y="3091221"/>
                    </a:lnTo>
                    <a:lnTo>
                      <a:pt x="9287891" y="3091221"/>
                    </a:lnTo>
                    <a:cubicBezTo>
                      <a:pt x="9287891" y="3243840"/>
                      <a:pt x="9196324" y="3366975"/>
                      <a:pt x="9083802" y="3366975"/>
                    </a:cubicBezTo>
                    <a:lnTo>
                      <a:pt x="9083802" y="3340960"/>
                    </a:lnTo>
                    <a:lnTo>
                      <a:pt x="9083802" y="3366975"/>
                    </a:lnTo>
                    <a:lnTo>
                      <a:pt x="204089" y="3366975"/>
                    </a:lnTo>
                    <a:lnTo>
                      <a:pt x="204089" y="3340960"/>
                    </a:lnTo>
                    <a:lnTo>
                      <a:pt x="204089" y="3366975"/>
                    </a:lnTo>
                    <a:cubicBezTo>
                      <a:pt x="91567" y="3366975"/>
                      <a:pt x="0" y="3243840"/>
                      <a:pt x="0" y="3091221"/>
                    </a:cubicBezTo>
                    <a:lnTo>
                      <a:pt x="0" y="275754"/>
                    </a:lnTo>
                    <a:lnTo>
                      <a:pt x="19050" y="275754"/>
                    </a:lnTo>
                    <a:lnTo>
                      <a:pt x="0" y="275754"/>
                    </a:lnTo>
                    <a:moveTo>
                      <a:pt x="38100" y="275754"/>
                    </a:moveTo>
                    <a:lnTo>
                      <a:pt x="38100" y="3091221"/>
                    </a:lnTo>
                    <a:lnTo>
                      <a:pt x="19050" y="3091221"/>
                    </a:lnTo>
                    <a:lnTo>
                      <a:pt x="38100" y="3091221"/>
                    </a:lnTo>
                    <a:cubicBezTo>
                      <a:pt x="38100" y="3214530"/>
                      <a:pt x="112141" y="3314946"/>
                      <a:pt x="204089" y="3314946"/>
                    </a:cubicBezTo>
                    <a:lnTo>
                      <a:pt x="9083802" y="3314946"/>
                    </a:lnTo>
                    <a:cubicBezTo>
                      <a:pt x="9175623" y="3314946"/>
                      <a:pt x="9249791" y="3214530"/>
                      <a:pt x="9249791" y="3091221"/>
                    </a:cubicBezTo>
                    <a:lnTo>
                      <a:pt x="9249791" y="275754"/>
                    </a:lnTo>
                    <a:cubicBezTo>
                      <a:pt x="9249791" y="152445"/>
                      <a:pt x="9175750" y="52029"/>
                      <a:pt x="9083802" y="52029"/>
                    </a:cubicBezTo>
                    <a:lnTo>
                      <a:pt x="204089" y="52029"/>
                    </a:lnTo>
                    <a:lnTo>
                      <a:pt x="204089" y="26015"/>
                    </a:lnTo>
                    <a:lnTo>
                      <a:pt x="204089" y="52029"/>
                    </a:lnTo>
                    <a:cubicBezTo>
                      <a:pt x="112141" y="52029"/>
                      <a:pt x="38100" y="152445"/>
                      <a:pt x="38100" y="275754"/>
                    </a:cubicBezTo>
                    <a:close/>
                  </a:path>
                </a:pathLst>
              </a:custGeom>
              <a:solidFill>
                <a:srgbClr val="D3D1C9"/>
              </a:solidFill>
            </p:spPr>
          </p:sp>
        </p:grpSp>
        <p:grpSp>
          <p:nvGrpSpPr>
            <p:cNvPr id="18" name="Group 18"/>
            <p:cNvGrpSpPr/>
            <p:nvPr/>
          </p:nvGrpSpPr>
          <p:grpSpPr>
            <a:xfrm>
              <a:off x="0" y="3287008"/>
              <a:ext cx="152400" cy="3200210"/>
              <a:chOff x="0" y="0"/>
              <a:chExt cx="152400" cy="3200210"/>
            </a:xfrm>
          </p:grpSpPr>
          <p:sp>
            <p:nvSpPr>
              <p:cNvPr id="19" name="Freeform 19"/>
              <p:cNvSpPr/>
              <p:nvPr/>
            </p:nvSpPr>
            <p:spPr>
              <a:xfrm>
                <a:off x="0" y="0"/>
                <a:ext cx="152400" cy="3200193"/>
              </a:xfrm>
              <a:custGeom>
                <a:avLst/>
                <a:gdLst/>
                <a:ahLst/>
                <a:cxnLst/>
                <a:rect l="l" t="t" r="r" b="b"/>
                <a:pathLst>
                  <a:path w="152400" h="3200193">
                    <a:moveTo>
                      <a:pt x="0" y="54916"/>
                    </a:moveTo>
                    <a:cubicBezTo>
                      <a:pt x="0" y="24612"/>
                      <a:pt x="18669" y="0"/>
                      <a:pt x="41656" y="0"/>
                    </a:cubicBezTo>
                    <a:lnTo>
                      <a:pt x="110744" y="0"/>
                    </a:lnTo>
                    <a:cubicBezTo>
                      <a:pt x="133731" y="0"/>
                      <a:pt x="152400" y="24612"/>
                      <a:pt x="152400" y="54916"/>
                    </a:cubicBezTo>
                    <a:lnTo>
                      <a:pt x="152400" y="3145277"/>
                    </a:lnTo>
                    <a:cubicBezTo>
                      <a:pt x="152400" y="3175581"/>
                      <a:pt x="133731" y="3200193"/>
                      <a:pt x="110744" y="3200193"/>
                    </a:cubicBezTo>
                    <a:lnTo>
                      <a:pt x="41656" y="3200193"/>
                    </a:lnTo>
                    <a:cubicBezTo>
                      <a:pt x="18669" y="3200193"/>
                      <a:pt x="0" y="3175581"/>
                      <a:pt x="0" y="3145277"/>
                    </a:cubicBezTo>
                    <a:close/>
                  </a:path>
                </a:pathLst>
              </a:custGeom>
              <a:solidFill>
                <a:srgbClr val="28282F"/>
              </a:solidFill>
            </p:spPr>
          </p:sp>
        </p:grpSp>
        <p:sp>
          <p:nvSpPr>
            <p:cNvPr id="20" name="TextBox 20"/>
            <p:cNvSpPr txBox="1"/>
            <p:nvPr/>
          </p:nvSpPr>
          <p:spPr>
            <a:xfrm>
              <a:off x="468313" y="3545770"/>
              <a:ext cx="4360069" cy="544830"/>
            </a:xfrm>
            <a:prstGeom prst="rect">
              <a:avLst/>
            </a:prstGeom>
          </p:spPr>
          <p:txBody>
            <a:bodyPr lIns="0" tIns="0" rIns="0" bIns="0" rtlCol="0" anchor="t">
              <a:spAutoFit/>
            </a:bodyPr>
            <a:lstStyle/>
            <a:p>
              <a:pPr algn="l">
                <a:lnSpc>
                  <a:spcPts val="3075"/>
                </a:lnSpc>
              </a:pPr>
              <a:r>
                <a:rPr lang="en-US" sz="2400" b="1" u="sng">
                  <a:solidFill>
                    <a:srgbClr val="161613"/>
                  </a:solidFill>
                  <a:latin typeface="Calibri (MS) Bold"/>
                  <a:ea typeface="Calibri (MS) Bold"/>
                  <a:cs typeface="Calibri (MS) Bold"/>
                  <a:sym typeface="Calibri (MS) Bold"/>
                </a:rPr>
                <a:t>Automotive Night Vision</a:t>
              </a:r>
            </a:p>
          </p:txBody>
        </p:sp>
        <p:sp>
          <p:nvSpPr>
            <p:cNvPr id="21" name="TextBox 21"/>
            <p:cNvSpPr txBox="1"/>
            <p:nvPr/>
          </p:nvSpPr>
          <p:spPr>
            <a:xfrm>
              <a:off x="468313" y="4146048"/>
              <a:ext cx="8503641" cy="2353896"/>
            </a:xfrm>
            <a:prstGeom prst="rect">
              <a:avLst/>
            </a:prstGeom>
          </p:spPr>
          <p:txBody>
            <a:bodyPr lIns="0" tIns="0" rIns="0" bIns="0" rtlCol="0" anchor="t">
              <a:spAutoFit/>
            </a:bodyPr>
            <a:lstStyle/>
            <a:p>
              <a:pPr algn="l">
                <a:lnSpc>
                  <a:spcPts val="3461"/>
                </a:lnSpc>
              </a:pPr>
              <a:r>
                <a:rPr lang="en-US" sz="2499">
                  <a:solidFill>
                    <a:srgbClr val="161613"/>
                  </a:solidFill>
                  <a:latin typeface="Calibri (MS)"/>
                  <a:ea typeface="Calibri (MS)"/>
                  <a:cs typeface="Calibri (MS)"/>
                  <a:sym typeface="Calibri (MS)"/>
                </a:rPr>
                <a:t>Uses infrared cameras to detect pedestrians, animals, and obstacles in darkness. Extends visibility beyond headlight range with thermal imaging.</a:t>
              </a:r>
            </a:p>
          </p:txBody>
        </p:sp>
        <p:grpSp>
          <p:nvGrpSpPr>
            <p:cNvPr id="22" name="Group 22"/>
            <p:cNvGrpSpPr/>
            <p:nvPr/>
          </p:nvGrpSpPr>
          <p:grpSpPr>
            <a:xfrm>
              <a:off x="19050" y="6634950"/>
              <a:ext cx="9287866" cy="3320757"/>
              <a:chOff x="0" y="0"/>
              <a:chExt cx="9287866" cy="3320757"/>
            </a:xfrm>
          </p:grpSpPr>
          <p:sp>
            <p:nvSpPr>
              <p:cNvPr id="23" name="Freeform 23"/>
              <p:cNvSpPr/>
              <p:nvPr/>
            </p:nvSpPr>
            <p:spPr>
              <a:xfrm>
                <a:off x="19050" y="25657"/>
                <a:ext cx="9249791" cy="3269426"/>
              </a:xfrm>
              <a:custGeom>
                <a:avLst/>
                <a:gdLst/>
                <a:ahLst/>
                <a:cxnLst/>
                <a:rect l="l" t="t" r="r" b="b"/>
                <a:pathLst>
                  <a:path w="9249791" h="3269426">
                    <a:moveTo>
                      <a:pt x="0" y="246311"/>
                    </a:moveTo>
                    <a:cubicBezTo>
                      <a:pt x="0" y="110327"/>
                      <a:pt x="82804" y="0"/>
                      <a:pt x="185039" y="0"/>
                    </a:cubicBezTo>
                    <a:lnTo>
                      <a:pt x="9064752" y="0"/>
                    </a:lnTo>
                    <a:cubicBezTo>
                      <a:pt x="9166860" y="0"/>
                      <a:pt x="9249791" y="110327"/>
                      <a:pt x="9249791" y="246311"/>
                    </a:cubicBezTo>
                    <a:lnTo>
                      <a:pt x="9249791" y="3023116"/>
                    </a:lnTo>
                    <a:cubicBezTo>
                      <a:pt x="9249791" y="3159100"/>
                      <a:pt x="9166987" y="3269426"/>
                      <a:pt x="9064752" y="3269426"/>
                    </a:cubicBezTo>
                    <a:lnTo>
                      <a:pt x="185039" y="3269426"/>
                    </a:lnTo>
                    <a:cubicBezTo>
                      <a:pt x="82931" y="3269426"/>
                      <a:pt x="0" y="3159100"/>
                      <a:pt x="0" y="3023116"/>
                    </a:cubicBezTo>
                    <a:close/>
                  </a:path>
                </a:pathLst>
              </a:custGeom>
              <a:solidFill>
                <a:srgbClr val="F9F8F5"/>
              </a:solidFill>
            </p:spPr>
          </p:sp>
          <p:sp>
            <p:nvSpPr>
              <p:cNvPr id="24" name="Freeform 24"/>
              <p:cNvSpPr/>
              <p:nvPr/>
            </p:nvSpPr>
            <p:spPr>
              <a:xfrm>
                <a:off x="0" y="0"/>
                <a:ext cx="9287891" cy="3320740"/>
              </a:xfrm>
              <a:custGeom>
                <a:avLst/>
                <a:gdLst/>
                <a:ahLst/>
                <a:cxnLst/>
                <a:rect l="l" t="t" r="r" b="b"/>
                <a:pathLst>
                  <a:path w="9287891" h="3320740">
                    <a:moveTo>
                      <a:pt x="0" y="271968"/>
                    </a:moveTo>
                    <a:cubicBezTo>
                      <a:pt x="0" y="121445"/>
                      <a:pt x="91567" y="0"/>
                      <a:pt x="204089" y="0"/>
                    </a:cubicBezTo>
                    <a:lnTo>
                      <a:pt x="9083802" y="0"/>
                    </a:lnTo>
                    <a:lnTo>
                      <a:pt x="9083802" y="25657"/>
                    </a:lnTo>
                    <a:lnTo>
                      <a:pt x="9083802" y="0"/>
                    </a:lnTo>
                    <a:cubicBezTo>
                      <a:pt x="9196324" y="0"/>
                      <a:pt x="9287891" y="121445"/>
                      <a:pt x="9287891" y="271968"/>
                    </a:cubicBezTo>
                    <a:lnTo>
                      <a:pt x="9268841" y="271968"/>
                    </a:lnTo>
                    <a:lnTo>
                      <a:pt x="9287891" y="271968"/>
                    </a:lnTo>
                    <a:lnTo>
                      <a:pt x="9287891" y="3048773"/>
                    </a:lnTo>
                    <a:lnTo>
                      <a:pt x="9268841" y="3048773"/>
                    </a:lnTo>
                    <a:lnTo>
                      <a:pt x="9287891" y="3048773"/>
                    </a:lnTo>
                    <a:cubicBezTo>
                      <a:pt x="9287891" y="3199296"/>
                      <a:pt x="9196324" y="3320740"/>
                      <a:pt x="9083802" y="3320740"/>
                    </a:cubicBezTo>
                    <a:lnTo>
                      <a:pt x="9083802" y="3295083"/>
                    </a:lnTo>
                    <a:lnTo>
                      <a:pt x="9083802" y="3320740"/>
                    </a:lnTo>
                    <a:lnTo>
                      <a:pt x="204089" y="3320740"/>
                    </a:lnTo>
                    <a:lnTo>
                      <a:pt x="204089" y="3295083"/>
                    </a:lnTo>
                    <a:lnTo>
                      <a:pt x="204089" y="3320740"/>
                    </a:lnTo>
                    <a:cubicBezTo>
                      <a:pt x="91567" y="3320740"/>
                      <a:pt x="0" y="3199296"/>
                      <a:pt x="0" y="3048773"/>
                    </a:cubicBezTo>
                    <a:lnTo>
                      <a:pt x="0" y="271968"/>
                    </a:lnTo>
                    <a:lnTo>
                      <a:pt x="19050" y="271968"/>
                    </a:lnTo>
                    <a:lnTo>
                      <a:pt x="0" y="271968"/>
                    </a:lnTo>
                    <a:moveTo>
                      <a:pt x="38100" y="271968"/>
                    </a:moveTo>
                    <a:lnTo>
                      <a:pt x="38100" y="3048773"/>
                    </a:lnTo>
                    <a:lnTo>
                      <a:pt x="19050" y="3048773"/>
                    </a:lnTo>
                    <a:lnTo>
                      <a:pt x="38100" y="3048773"/>
                    </a:lnTo>
                    <a:cubicBezTo>
                      <a:pt x="38100" y="3170389"/>
                      <a:pt x="112141" y="3269426"/>
                      <a:pt x="204089" y="3269426"/>
                    </a:cubicBezTo>
                    <a:lnTo>
                      <a:pt x="9083802" y="3269426"/>
                    </a:lnTo>
                    <a:cubicBezTo>
                      <a:pt x="9175623" y="3269426"/>
                      <a:pt x="9249791" y="3170389"/>
                      <a:pt x="9249791" y="3048773"/>
                    </a:cubicBezTo>
                    <a:lnTo>
                      <a:pt x="9249791" y="271968"/>
                    </a:lnTo>
                    <a:cubicBezTo>
                      <a:pt x="9249791" y="150352"/>
                      <a:pt x="9175750" y="51315"/>
                      <a:pt x="9083802" y="51315"/>
                    </a:cubicBezTo>
                    <a:lnTo>
                      <a:pt x="204089" y="51315"/>
                    </a:lnTo>
                    <a:lnTo>
                      <a:pt x="204089" y="25657"/>
                    </a:lnTo>
                    <a:lnTo>
                      <a:pt x="204089" y="51315"/>
                    </a:lnTo>
                    <a:cubicBezTo>
                      <a:pt x="112141" y="51315"/>
                      <a:pt x="38100" y="150352"/>
                      <a:pt x="38100" y="271968"/>
                    </a:cubicBezTo>
                    <a:close/>
                  </a:path>
                </a:pathLst>
              </a:custGeom>
              <a:solidFill>
                <a:srgbClr val="D3D1C9"/>
              </a:solidFill>
            </p:spPr>
          </p:sp>
        </p:grpSp>
        <p:grpSp>
          <p:nvGrpSpPr>
            <p:cNvPr id="25" name="Group 25"/>
            <p:cNvGrpSpPr/>
            <p:nvPr/>
          </p:nvGrpSpPr>
          <p:grpSpPr>
            <a:xfrm>
              <a:off x="0" y="6654000"/>
              <a:ext cx="152400" cy="3049828"/>
              <a:chOff x="0" y="0"/>
              <a:chExt cx="152400" cy="3049828"/>
            </a:xfrm>
          </p:grpSpPr>
          <p:sp>
            <p:nvSpPr>
              <p:cNvPr id="26" name="Freeform 26"/>
              <p:cNvSpPr/>
              <p:nvPr/>
            </p:nvSpPr>
            <p:spPr>
              <a:xfrm>
                <a:off x="0" y="0"/>
                <a:ext cx="152400" cy="3049812"/>
              </a:xfrm>
              <a:custGeom>
                <a:avLst/>
                <a:gdLst/>
                <a:ahLst/>
                <a:cxnLst/>
                <a:rect l="l" t="t" r="r" b="b"/>
                <a:pathLst>
                  <a:path w="152400" h="3049812">
                    <a:moveTo>
                      <a:pt x="0" y="52335"/>
                    </a:moveTo>
                    <a:cubicBezTo>
                      <a:pt x="0" y="23455"/>
                      <a:pt x="18669" y="0"/>
                      <a:pt x="41656" y="0"/>
                    </a:cubicBezTo>
                    <a:lnTo>
                      <a:pt x="110744" y="0"/>
                    </a:lnTo>
                    <a:cubicBezTo>
                      <a:pt x="133731" y="0"/>
                      <a:pt x="152400" y="23455"/>
                      <a:pt x="152400" y="52335"/>
                    </a:cubicBezTo>
                    <a:lnTo>
                      <a:pt x="152400" y="2997477"/>
                    </a:lnTo>
                    <a:cubicBezTo>
                      <a:pt x="152400" y="3026357"/>
                      <a:pt x="133731" y="3049812"/>
                      <a:pt x="110744" y="3049812"/>
                    </a:cubicBezTo>
                    <a:lnTo>
                      <a:pt x="41656" y="3049812"/>
                    </a:lnTo>
                    <a:cubicBezTo>
                      <a:pt x="18669" y="3049812"/>
                      <a:pt x="0" y="3026357"/>
                      <a:pt x="0" y="2997477"/>
                    </a:cubicBezTo>
                    <a:close/>
                  </a:path>
                </a:pathLst>
              </a:custGeom>
              <a:solidFill>
                <a:srgbClr val="28282F"/>
              </a:solidFill>
            </p:spPr>
          </p:sp>
        </p:grpSp>
        <p:sp>
          <p:nvSpPr>
            <p:cNvPr id="27" name="TextBox 27"/>
            <p:cNvSpPr txBox="1"/>
            <p:nvPr/>
          </p:nvSpPr>
          <p:spPr>
            <a:xfrm>
              <a:off x="468312" y="6912762"/>
              <a:ext cx="4061420" cy="544830"/>
            </a:xfrm>
            <a:prstGeom prst="rect">
              <a:avLst/>
            </a:prstGeom>
          </p:spPr>
          <p:txBody>
            <a:bodyPr lIns="0" tIns="0" rIns="0" bIns="0" rtlCol="0" anchor="t">
              <a:spAutoFit/>
            </a:bodyPr>
            <a:lstStyle/>
            <a:p>
              <a:pPr algn="l">
                <a:lnSpc>
                  <a:spcPts val="3075"/>
                </a:lnSpc>
              </a:pPr>
              <a:r>
                <a:rPr lang="en-US" sz="2400" b="1" u="sng">
                  <a:solidFill>
                    <a:srgbClr val="161613"/>
                  </a:solidFill>
                  <a:latin typeface="Calibri (MS) Bold"/>
                  <a:ea typeface="Calibri (MS) Bold"/>
                  <a:cs typeface="Calibri (MS) Bold"/>
                  <a:sym typeface="Calibri (MS) Bold"/>
                </a:rPr>
                <a:t>Adaptive Light Control</a:t>
              </a:r>
            </a:p>
          </p:txBody>
        </p:sp>
        <p:sp>
          <p:nvSpPr>
            <p:cNvPr id="28" name="TextBox 28"/>
            <p:cNvSpPr txBox="1"/>
            <p:nvPr/>
          </p:nvSpPr>
          <p:spPr>
            <a:xfrm>
              <a:off x="468313" y="7513041"/>
              <a:ext cx="8503641" cy="2353896"/>
            </a:xfrm>
            <a:prstGeom prst="rect">
              <a:avLst/>
            </a:prstGeom>
          </p:spPr>
          <p:txBody>
            <a:bodyPr lIns="0" tIns="0" rIns="0" bIns="0" rtlCol="0" anchor="t">
              <a:spAutoFit/>
            </a:bodyPr>
            <a:lstStyle/>
            <a:p>
              <a:pPr algn="l">
                <a:lnSpc>
                  <a:spcPts val="3461"/>
                </a:lnSpc>
              </a:pPr>
              <a:r>
                <a:rPr lang="en-US" sz="2499">
                  <a:solidFill>
                    <a:srgbClr val="161613"/>
                  </a:solidFill>
                  <a:latin typeface="Calibri (MS)"/>
                  <a:ea typeface="Calibri (MS)"/>
                  <a:cs typeface="Calibri (MS)"/>
                  <a:sym typeface="Calibri (MS)"/>
                </a:rPr>
                <a:t>Automatically adjusts headlight direction and intensity based on steering and conditions. Prevents blinding oncoming traffic while maximizing illumination.</a:t>
              </a:r>
            </a:p>
          </p:txBody>
        </p:sp>
      </p:grpSp>
      <p:sp>
        <p:nvSpPr>
          <p:cNvPr id="29" name="TextBox 29"/>
          <p:cNvSpPr txBox="1"/>
          <p:nvPr/>
        </p:nvSpPr>
        <p:spPr>
          <a:xfrm>
            <a:off x="9964256" y="968275"/>
            <a:ext cx="3515023" cy="439290"/>
          </a:xfrm>
          <a:prstGeom prst="rect">
            <a:avLst/>
          </a:prstGeom>
        </p:spPr>
        <p:txBody>
          <a:bodyPr lIns="0" tIns="0" rIns="0" bIns="0" rtlCol="0" anchor="t">
            <a:spAutoFit/>
          </a:bodyPr>
          <a:lstStyle/>
          <a:p>
            <a:pPr algn="l">
              <a:lnSpc>
                <a:spcPts val="3141"/>
              </a:lnSpc>
            </a:pPr>
            <a:r>
              <a:rPr lang="en-US" sz="2499" b="1">
                <a:solidFill>
                  <a:srgbClr val="161613"/>
                </a:solidFill>
                <a:latin typeface="Calibri (MS) Bold"/>
                <a:ea typeface="Calibri (MS) Bold"/>
                <a:cs typeface="Calibri (MS) Bold"/>
                <a:sym typeface="Calibri (MS) Bold"/>
              </a:rPr>
              <a:t>Intelligent Driving Systems</a:t>
            </a:r>
          </a:p>
        </p:txBody>
      </p:sp>
      <p:grpSp>
        <p:nvGrpSpPr>
          <p:cNvPr id="30" name="Group 30"/>
          <p:cNvGrpSpPr/>
          <p:nvPr/>
        </p:nvGrpSpPr>
        <p:grpSpPr>
          <a:xfrm>
            <a:off x="9989185" y="2742018"/>
            <a:ext cx="6980187" cy="7305749"/>
            <a:chOff x="0" y="0"/>
            <a:chExt cx="9306916" cy="9740999"/>
          </a:xfrm>
        </p:grpSpPr>
        <p:grpSp>
          <p:nvGrpSpPr>
            <p:cNvPr id="31" name="Group 31"/>
            <p:cNvGrpSpPr/>
            <p:nvPr/>
          </p:nvGrpSpPr>
          <p:grpSpPr>
            <a:xfrm>
              <a:off x="19050" y="0"/>
              <a:ext cx="9287866" cy="2600639"/>
              <a:chOff x="0" y="0"/>
              <a:chExt cx="9287866" cy="2600639"/>
            </a:xfrm>
          </p:grpSpPr>
          <p:sp>
            <p:nvSpPr>
              <p:cNvPr id="32" name="Freeform 32"/>
              <p:cNvSpPr/>
              <p:nvPr/>
            </p:nvSpPr>
            <p:spPr>
              <a:xfrm>
                <a:off x="19050" y="20093"/>
                <a:ext cx="9249791" cy="2560439"/>
              </a:xfrm>
              <a:custGeom>
                <a:avLst/>
                <a:gdLst/>
                <a:ahLst/>
                <a:cxnLst/>
                <a:rect l="l" t="t" r="r" b="b"/>
                <a:pathLst>
                  <a:path w="9249791" h="2560439">
                    <a:moveTo>
                      <a:pt x="0" y="192897"/>
                    </a:moveTo>
                    <a:cubicBezTo>
                      <a:pt x="0" y="86402"/>
                      <a:pt x="82804" y="0"/>
                      <a:pt x="185039" y="0"/>
                    </a:cubicBezTo>
                    <a:lnTo>
                      <a:pt x="9064752" y="0"/>
                    </a:lnTo>
                    <a:cubicBezTo>
                      <a:pt x="9166860" y="0"/>
                      <a:pt x="9249791" y="86402"/>
                      <a:pt x="9249791" y="192897"/>
                    </a:cubicBezTo>
                    <a:lnTo>
                      <a:pt x="9249791" y="2367542"/>
                    </a:lnTo>
                    <a:cubicBezTo>
                      <a:pt x="9249791" y="2474038"/>
                      <a:pt x="9166987" y="2560439"/>
                      <a:pt x="9064752" y="2560439"/>
                    </a:cubicBezTo>
                    <a:lnTo>
                      <a:pt x="185039" y="2560439"/>
                    </a:lnTo>
                    <a:cubicBezTo>
                      <a:pt x="82931" y="2560439"/>
                      <a:pt x="0" y="2474038"/>
                      <a:pt x="0" y="2367542"/>
                    </a:cubicBezTo>
                    <a:close/>
                  </a:path>
                </a:pathLst>
              </a:custGeom>
              <a:solidFill>
                <a:srgbClr val="F9F8F5"/>
              </a:solidFill>
            </p:spPr>
          </p:sp>
          <p:sp>
            <p:nvSpPr>
              <p:cNvPr id="33" name="Freeform 33"/>
              <p:cNvSpPr/>
              <p:nvPr/>
            </p:nvSpPr>
            <p:spPr>
              <a:xfrm>
                <a:off x="0" y="0"/>
                <a:ext cx="9287891" cy="2600626"/>
              </a:xfrm>
              <a:custGeom>
                <a:avLst/>
                <a:gdLst/>
                <a:ahLst/>
                <a:cxnLst/>
                <a:rect l="l" t="t" r="r" b="b"/>
                <a:pathLst>
                  <a:path w="9287891" h="2600626">
                    <a:moveTo>
                      <a:pt x="0" y="212990"/>
                    </a:moveTo>
                    <a:cubicBezTo>
                      <a:pt x="0" y="95109"/>
                      <a:pt x="91567" y="0"/>
                      <a:pt x="204089" y="0"/>
                    </a:cubicBezTo>
                    <a:lnTo>
                      <a:pt x="9083802" y="0"/>
                    </a:lnTo>
                    <a:lnTo>
                      <a:pt x="9083802" y="20093"/>
                    </a:lnTo>
                    <a:lnTo>
                      <a:pt x="9083802" y="0"/>
                    </a:lnTo>
                    <a:cubicBezTo>
                      <a:pt x="9196324" y="0"/>
                      <a:pt x="9287891" y="95109"/>
                      <a:pt x="9287891" y="212990"/>
                    </a:cubicBezTo>
                    <a:lnTo>
                      <a:pt x="9268841" y="212990"/>
                    </a:lnTo>
                    <a:lnTo>
                      <a:pt x="9287891" y="212990"/>
                    </a:lnTo>
                    <a:lnTo>
                      <a:pt x="9287891" y="2387635"/>
                    </a:lnTo>
                    <a:lnTo>
                      <a:pt x="9268841" y="2387635"/>
                    </a:lnTo>
                    <a:lnTo>
                      <a:pt x="9287891" y="2387635"/>
                    </a:lnTo>
                    <a:cubicBezTo>
                      <a:pt x="9287891" y="2505517"/>
                      <a:pt x="9196324" y="2600626"/>
                      <a:pt x="9083802" y="2600626"/>
                    </a:cubicBezTo>
                    <a:lnTo>
                      <a:pt x="9083802" y="2580532"/>
                    </a:lnTo>
                    <a:lnTo>
                      <a:pt x="9083802" y="2600626"/>
                    </a:lnTo>
                    <a:lnTo>
                      <a:pt x="204089" y="2600626"/>
                    </a:lnTo>
                    <a:lnTo>
                      <a:pt x="204089" y="2580532"/>
                    </a:lnTo>
                    <a:lnTo>
                      <a:pt x="204089" y="2600626"/>
                    </a:lnTo>
                    <a:cubicBezTo>
                      <a:pt x="91567" y="2600626"/>
                      <a:pt x="0" y="2505517"/>
                      <a:pt x="0" y="2387635"/>
                    </a:cubicBezTo>
                    <a:lnTo>
                      <a:pt x="0" y="212990"/>
                    </a:lnTo>
                    <a:lnTo>
                      <a:pt x="19050" y="212990"/>
                    </a:lnTo>
                    <a:lnTo>
                      <a:pt x="0" y="212990"/>
                    </a:lnTo>
                    <a:moveTo>
                      <a:pt x="38100" y="212990"/>
                    </a:moveTo>
                    <a:lnTo>
                      <a:pt x="38100" y="2387635"/>
                    </a:lnTo>
                    <a:lnTo>
                      <a:pt x="19050" y="2387635"/>
                    </a:lnTo>
                    <a:lnTo>
                      <a:pt x="38100" y="2387635"/>
                    </a:lnTo>
                    <a:cubicBezTo>
                      <a:pt x="38100" y="2482878"/>
                      <a:pt x="112141" y="2560439"/>
                      <a:pt x="204089" y="2560439"/>
                    </a:cubicBezTo>
                    <a:lnTo>
                      <a:pt x="9083802" y="2560439"/>
                    </a:lnTo>
                    <a:cubicBezTo>
                      <a:pt x="9175623" y="2560439"/>
                      <a:pt x="9249791" y="2482878"/>
                      <a:pt x="9249791" y="2387635"/>
                    </a:cubicBezTo>
                    <a:lnTo>
                      <a:pt x="9249791" y="212990"/>
                    </a:lnTo>
                    <a:cubicBezTo>
                      <a:pt x="9249791" y="117748"/>
                      <a:pt x="9175750" y="40187"/>
                      <a:pt x="9083802" y="40187"/>
                    </a:cubicBezTo>
                    <a:lnTo>
                      <a:pt x="204089" y="40187"/>
                    </a:lnTo>
                    <a:lnTo>
                      <a:pt x="204089" y="20093"/>
                    </a:lnTo>
                    <a:lnTo>
                      <a:pt x="204089" y="40187"/>
                    </a:lnTo>
                    <a:cubicBezTo>
                      <a:pt x="112141" y="40187"/>
                      <a:pt x="38100" y="117748"/>
                      <a:pt x="38100" y="212990"/>
                    </a:cubicBezTo>
                    <a:close/>
                  </a:path>
                </a:pathLst>
              </a:custGeom>
              <a:solidFill>
                <a:srgbClr val="D3D1C9"/>
              </a:solidFill>
            </p:spPr>
          </p:sp>
        </p:grpSp>
        <p:grpSp>
          <p:nvGrpSpPr>
            <p:cNvPr id="34" name="Group 34"/>
            <p:cNvGrpSpPr/>
            <p:nvPr/>
          </p:nvGrpSpPr>
          <p:grpSpPr>
            <a:xfrm>
              <a:off x="0" y="19050"/>
              <a:ext cx="152400" cy="2427491"/>
              <a:chOff x="0" y="0"/>
              <a:chExt cx="152400" cy="2427491"/>
            </a:xfrm>
          </p:grpSpPr>
          <p:sp>
            <p:nvSpPr>
              <p:cNvPr id="35" name="Freeform 35"/>
              <p:cNvSpPr/>
              <p:nvPr/>
            </p:nvSpPr>
            <p:spPr>
              <a:xfrm>
                <a:off x="0" y="0"/>
                <a:ext cx="152400" cy="2427478"/>
              </a:xfrm>
              <a:custGeom>
                <a:avLst/>
                <a:gdLst/>
                <a:ahLst/>
                <a:cxnLst/>
                <a:rect l="l" t="t" r="r" b="b"/>
                <a:pathLst>
                  <a:path w="152400" h="2427478">
                    <a:moveTo>
                      <a:pt x="0" y="41656"/>
                    </a:moveTo>
                    <a:cubicBezTo>
                      <a:pt x="0" y="18669"/>
                      <a:pt x="18669" y="0"/>
                      <a:pt x="41656" y="0"/>
                    </a:cubicBezTo>
                    <a:lnTo>
                      <a:pt x="110744" y="0"/>
                    </a:lnTo>
                    <a:cubicBezTo>
                      <a:pt x="133731" y="0"/>
                      <a:pt x="152400" y="18669"/>
                      <a:pt x="152400" y="41656"/>
                    </a:cubicBezTo>
                    <a:lnTo>
                      <a:pt x="152400" y="2385822"/>
                    </a:lnTo>
                    <a:cubicBezTo>
                      <a:pt x="152400" y="2408809"/>
                      <a:pt x="133731" y="2427478"/>
                      <a:pt x="110744" y="2427478"/>
                    </a:cubicBezTo>
                    <a:lnTo>
                      <a:pt x="41656" y="2427478"/>
                    </a:lnTo>
                    <a:cubicBezTo>
                      <a:pt x="18669" y="2427478"/>
                      <a:pt x="0" y="2408809"/>
                      <a:pt x="0" y="2385822"/>
                    </a:cubicBezTo>
                    <a:close/>
                  </a:path>
                </a:pathLst>
              </a:custGeom>
              <a:solidFill>
                <a:srgbClr val="28282F"/>
              </a:solidFill>
            </p:spPr>
          </p:sp>
        </p:grpSp>
        <p:sp>
          <p:nvSpPr>
            <p:cNvPr id="36" name="TextBox 36"/>
            <p:cNvSpPr txBox="1"/>
            <p:nvPr/>
          </p:nvSpPr>
          <p:spPr>
            <a:xfrm>
              <a:off x="468313" y="118324"/>
              <a:ext cx="4194670" cy="544830"/>
            </a:xfrm>
            <a:prstGeom prst="rect">
              <a:avLst/>
            </a:prstGeom>
          </p:spPr>
          <p:txBody>
            <a:bodyPr lIns="0" tIns="0" rIns="0" bIns="0" rtlCol="0" anchor="t">
              <a:spAutoFit/>
            </a:bodyPr>
            <a:lstStyle/>
            <a:p>
              <a:pPr algn="l">
                <a:lnSpc>
                  <a:spcPts val="3075"/>
                </a:lnSpc>
              </a:pPr>
              <a:r>
                <a:rPr lang="en-US" sz="2400" b="1" u="sng">
                  <a:solidFill>
                    <a:srgbClr val="161613"/>
                  </a:solidFill>
                  <a:latin typeface="Calibri (MS) Bold"/>
                  <a:ea typeface="Calibri (MS) Bold"/>
                  <a:cs typeface="Calibri (MS) Bold"/>
                  <a:sym typeface="Calibri (MS) Bold"/>
                </a:rPr>
                <a:t>Traffic Sign Recognition</a:t>
              </a:r>
            </a:p>
          </p:txBody>
        </p:sp>
        <p:sp>
          <p:nvSpPr>
            <p:cNvPr id="37" name="TextBox 37"/>
            <p:cNvSpPr txBox="1"/>
            <p:nvPr/>
          </p:nvSpPr>
          <p:spPr>
            <a:xfrm>
              <a:off x="468312" y="567904"/>
              <a:ext cx="8503641" cy="1769961"/>
            </a:xfrm>
            <a:prstGeom prst="rect">
              <a:avLst/>
            </a:prstGeom>
          </p:spPr>
          <p:txBody>
            <a:bodyPr lIns="0" tIns="0" rIns="0" bIns="0" rtlCol="0" anchor="t">
              <a:spAutoFit/>
            </a:bodyPr>
            <a:lstStyle/>
            <a:p>
              <a:pPr algn="l">
                <a:lnSpc>
                  <a:spcPts val="3461"/>
                </a:lnSpc>
              </a:pPr>
              <a:r>
                <a:rPr lang="en-US" sz="2499">
                  <a:solidFill>
                    <a:srgbClr val="161613"/>
                  </a:solidFill>
                  <a:latin typeface="Calibri (MS)"/>
                  <a:ea typeface="Calibri (MS)"/>
                  <a:cs typeface="Calibri (MS)"/>
                  <a:sym typeface="Calibri (MS)"/>
                </a:rPr>
                <a:t>Camera reads traffic signs including speed limits, stop signs, and warnings. Displays current speed limit and alerts when exceeded.</a:t>
              </a:r>
            </a:p>
          </p:txBody>
        </p:sp>
        <p:grpSp>
          <p:nvGrpSpPr>
            <p:cNvPr id="38" name="Group 38"/>
            <p:cNvGrpSpPr/>
            <p:nvPr/>
          </p:nvGrpSpPr>
          <p:grpSpPr>
            <a:xfrm>
              <a:off x="19050" y="3311839"/>
              <a:ext cx="9287866" cy="2621256"/>
              <a:chOff x="0" y="0"/>
              <a:chExt cx="9287866" cy="2621256"/>
            </a:xfrm>
          </p:grpSpPr>
          <p:sp>
            <p:nvSpPr>
              <p:cNvPr id="39" name="Freeform 39"/>
              <p:cNvSpPr/>
              <p:nvPr/>
            </p:nvSpPr>
            <p:spPr>
              <a:xfrm>
                <a:off x="19050" y="24009"/>
                <a:ext cx="9249790" cy="2573301"/>
              </a:xfrm>
              <a:custGeom>
                <a:avLst/>
                <a:gdLst/>
                <a:ahLst/>
                <a:cxnLst/>
                <a:rect l="l" t="t" r="r" b="b"/>
                <a:pathLst>
                  <a:path w="9249790" h="2573301">
                    <a:moveTo>
                      <a:pt x="0" y="230488"/>
                    </a:moveTo>
                    <a:cubicBezTo>
                      <a:pt x="0" y="103240"/>
                      <a:pt x="83058" y="0"/>
                      <a:pt x="185547" y="0"/>
                    </a:cubicBezTo>
                    <a:lnTo>
                      <a:pt x="9064244" y="0"/>
                    </a:lnTo>
                    <a:cubicBezTo>
                      <a:pt x="9166733" y="0"/>
                      <a:pt x="9249790" y="103240"/>
                      <a:pt x="9249790" y="230488"/>
                    </a:cubicBezTo>
                    <a:lnTo>
                      <a:pt x="9249790" y="2342813"/>
                    </a:lnTo>
                    <a:cubicBezTo>
                      <a:pt x="9249790" y="2470062"/>
                      <a:pt x="9166733" y="2573301"/>
                      <a:pt x="9064244" y="2573301"/>
                    </a:cubicBezTo>
                    <a:lnTo>
                      <a:pt x="185547" y="2573301"/>
                    </a:lnTo>
                    <a:cubicBezTo>
                      <a:pt x="83058" y="2573301"/>
                      <a:pt x="0" y="2470062"/>
                      <a:pt x="0" y="2342813"/>
                    </a:cubicBezTo>
                    <a:close/>
                  </a:path>
                </a:pathLst>
              </a:custGeom>
              <a:solidFill>
                <a:srgbClr val="F9F8F5"/>
              </a:solidFill>
            </p:spPr>
          </p:sp>
          <p:sp>
            <p:nvSpPr>
              <p:cNvPr id="40" name="Freeform 40"/>
              <p:cNvSpPr/>
              <p:nvPr/>
            </p:nvSpPr>
            <p:spPr>
              <a:xfrm>
                <a:off x="0" y="0"/>
                <a:ext cx="9287890" cy="2621306"/>
              </a:xfrm>
              <a:custGeom>
                <a:avLst/>
                <a:gdLst/>
                <a:ahLst/>
                <a:cxnLst/>
                <a:rect l="l" t="t" r="r" b="b"/>
                <a:pathLst>
                  <a:path w="9287890" h="2621306">
                    <a:moveTo>
                      <a:pt x="0" y="254497"/>
                    </a:moveTo>
                    <a:cubicBezTo>
                      <a:pt x="0" y="113643"/>
                      <a:pt x="91821" y="0"/>
                      <a:pt x="204597" y="0"/>
                    </a:cubicBezTo>
                    <a:lnTo>
                      <a:pt x="9083294" y="0"/>
                    </a:lnTo>
                    <a:lnTo>
                      <a:pt x="9083294" y="24009"/>
                    </a:lnTo>
                    <a:lnTo>
                      <a:pt x="9083294" y="0"/>
                    </a:lnTo>
                    <a:cubicBezTo>
                      <a:pt x="9196070" y="0"/>
                      <a:pt x="9287890" y="113643"/>
                      <a:pt x="9287890" y="254497"/>
                    </a:cubicBezTo>
                    <a:lnTo>
                      <a:pt x="9268840" y="254497"/>
                    </a:lnTo>
                    <a:lnTo>
                      <a:pt x="9287890" y="254497"/>
                    </a:lnTo>
                    <a:lnTo>
                      <a:pt x="9287890" y="2366822"/>
                    </a:lnTo>
                    <a:lnTo>
                      <a:pt x="9268840" y="2366822"/>
                    </a:lnTo>
                    <a:lnTo>
                      <a:pt x="9287890" y="2366822"/>
                    </a:lnTo>
                    <a:cubicBezTo>
                      <a:pt x="9287890" y="2507676"/>
                      <a:pt x="9196070" y="2621306"/>
                      <a:pt x="9083294" y="2621306"/>
                    </a:cubicBezTo>
                    <a:lnTo>
                      <a:pt x="9083294" y="2597310"/>
                    </a:lnTo>
                    <a:lnTo>
                      <a:pt x="9083294" y="2621306"/>
                    </a:lnTo>
                    <a:lnTo>
                      <a:pt x="204597" y="2621306"/>
                    </a:lnTo>
                    <a:lnTo>
                      <a:pt x="204597" y="2597310"/>
                    </a:lnTo>
                    <a:lnTo>
                      <a:pt x="204597" y="2621306"/>
                    </a:lnTo>
                    <a:cubicBezTo>
                      <a:pt x="91821" y="2621306"/>
                      <a:pt x="0" y="2507676"/>
                      <a:pt x="0" y="2366822"/>
                    </a:cubicBezTo>
                    <a:lnTo>
                      <a:pt x="0" y="254497"/>
                    </a:lnTo>
                    <a:lnTo>
                      <a:pt x="19050" y="254497"/>
                    </a:lnTo>
                    <a:lnTo>
                      <a:pt x="0" y="254497"/>
                    </a:lnTo>
                    <a:moveTo>
                      <a:pt x="38100" y="254497"/>
                    </a:moveTo>
                    <a:lnTo>
                      <a:pt x="38100" y="2366822"/>
                    </a:lnTo>
                    <a:lnTo>
                      <a:pt x="19050" y="2366822"/>
                    </a:lnTo>
                    <a:lnTo>
                      <a:pt x="38100" y="2366822"/>
                    </a:lnTo>
                    <a:cubicBezTo>
                      <a:pt x="38100" y="2480466"/>
                      <a:pt x="112395" y="2573301"/>
                      <a:pt x="204597" y="2573301"/>
                    </a:cubicBezTo>
                    <a:lnTo>
                      <a:pt x="9083294" y="2573301"/>
                    </a:lnTo>
                    <a:cubicBezTo>
                      <a:pt x="9175496" y="2573301"/>
                      <a:pt x="9249790" y="2480466"/>
                      <a:pt x="9249790" y="2366822"/>
                    </a:cubicBezTo>
                    <a:lnTo>
                      <a:pt x="9249790" y="254497"/>
                    </a:lnTo>
                    <a:cubicBezTo>
                      <a:pt x="9249790" y="140854"/>
                      <a:pt x="9175496" y="48018"/>
                      <a:pt x="9083294" y="48018"/>
                    </a:cubicBezTo>
                    <a:lnTo>
                      <a:pt x="204597" y="48018"/>
                    </a:lnTo>
                    <a:lnTo>
                      <a:pt x="204597" y="24009"/>
                    </a:lnTo>
                    <a:lnTo>
                      <a:pt x="204597" y="48018"/>
                    </a:lnTo>
                    <a:cubicBezTo>
                      <a:pt x="112395" y="48018"/>
                      <a:pt x="38100" y="140854"/>
                      <a:pt x="38100" y="254497"/>
                    </a:cubicBezTo>
                    <a:close/>
                  </a:path>
                </a:pathLst>
              </a:custGeom>
              <a:solidFill>
                <a:srgbClr val="D3D1C9"/>
              </a:solidFill>
            </p:spPr>
          </p:sp>
        </p:grpSp>
        <p:grpSp>
          <p:nvGrpSpPr>
            <p:cNvPr id="41" name="Group 41"/>
            <p:cNvGrpSpPr/>
            <p:nvPr/>
          </p:nvGrpSpPr>
          <p:grpSpPr>
            <a:xfrm>
              <a:off x="0" y="3330889"/>
              <a:ext cx="152400" cy="2482589"/>
              <a:chOff x="0" y="0"/>
              <a:chExt cx="152400" cy="2482589"/>
            </a:xfrm>
          </p:grpSpPr>
          <p:sp>
            <p:nvSpPr>
              <p:cNvPr id="42" name="Freeform 42"/>
              <p:cNvSpPr/>
              <p:nvPr/>
            </p:nvSpPr>
            <p:spPr>
              <a:xfrm>
                <a:off x="0" y="0"/>
                <a:ext cx="152400" cy="2482496"/>
              </a:xfrm>
              <a:custGeom>
                <a:avLst/>
                <a:gdLst/>
                <a:ahLst/>
                <a:cxnLst/>
                <a:rect l="l" t="t" r="r" b="b"/>
                <a:pathLst>
                  <a:path w="152400" h="2482496">
                    <a:moveTo>
                      <a:pt x="0" y="50651"/>
                    </a:moveTo>
                    <a:cubicBezTo>
                      <a:pt x="0" y="22700"/>
                      <a:pt x="18669" y="0"/>
                      <a:pt x="41656" y="0"/>
                    </a:cubicBezTo>
                    <a:lnTo>
                      <a:pt x="110744" y="0"/>
                    </a:lnTo>
                    <a:cubicBezTo>
                      <a:pt x="133731" y="0"/>
                      <a:pt x="152400" y="22700"/>
                      <a:pt x="152400" y="50651"/>
                    </a:cubicBezTo>
                    <a:lnTo>
                      <a:pt x="152400" y="2431846"/>
                    </a:lnTo>
                    <a:cubicBezTo>
                      <a:pt x="152400" y="2459796"/>
                      <a:pt x="133731" y="2482496"/>
                      <a:pt x="110744" y="2482496"/>
                    </a:cubicBezTo>
                    <a:lnTo>
                      <a:pt x="41656" y="2482496"/>
                    </a:lnTo>
                    <a:cubicBezTo>
                      <a:pt x="18669" y="2482496"/>
                      <a:pt x="0" y="2459796"/>
                      <a:pt x="0" y="2431846"/>
                    </a:cubicBezTo>
                    <a:close/>
                  </a:path>
                </a:pathLst>
              </a:custGeom>
              <a:solidFill>
                <a:srgbClr val="28282F"/>
              </a:solidFill>
            </p:spPr>
          </p:sp>
        </p:grpSp>
        <p:sp>
          <p:nvSpPr>
            <p:cNvPr id="43" name="TextBox 43"/>
            <p:cNvSpPr txBox="1"/>
            <p:nvPr/>
          </p:nvSpPr>
          <p:spPr>
            <a:xfrm>
              <a:off x="468313" y="3406223"/>
              <a:ext cx="4929401" cy="544830"/>
            </a:xfrm>
            <a:prstGeom prst="rect">
              <a:avLst/>
            </a:prstGeom>
          </p:spPr>
          <p:txBody>
            <a:bodyPr lIns="0" tIns="0" rIns="0" bIns="0" rtlCol="0" anchor="t">
              <a:spAutoFit/>
            </a:bodyPr>
            <a:lstStyle/>
            <a:p>
              <a:pPr algn="l">
                <a:lnSpc>
                  <a:spcPts val="3075"/>
                </a:lnSpc>
              </a:pPr>
              <a:r>
                <a:rPr lang="en-US" sz="2400" b="1" u="sng">
                  <a:solidFill>
                    <a:srgbClr val="161613"/>
                  </a:solidFill>
                  <a:latin typeface="Calibri (MS) Bold"/>
                  <a:ea typeface="Calibri (MS) Bold"/>
                  <a:cs typeface="Calibri (MS) Bold"/>
                  <a:sym typeface="Calibri (MS) Bold"/>
                </a:rPr>
                <a:t>Intelligent Speed Adaptation</a:t>
              </a:r>
            </a:p>
          </p:txBody>
        </p:sp>
        <p:sp>
          <p:nvSpPr>
            <p:cNvPr id="44" name="TextBox 44"/>
            <p:cNvSpPr txBox="1"/>
            <p:nvPr/>
          </p:nvSpPr>
          <p:spPr>
            <a:xfrm>
              <a:off x="468312" y="3855803"/>
              <a:ext cx="8503641" cy="1769961"/>
            </a:xfrm>
            <a:prstGeom prst="rect">
              <a:avLst/>
            </a:prstGeom>
          </p:spPr>
          <p:txBody>
            <a:bodyPr lIns="0" tIns="0" rIns="0" bIns="0" rtlCol="0" anchor="t">
              <a:spAutoFit/>
            </a:bodyPr>
            <a:lstStyle/>
            <a:p>
              <a:pPr algn="l">
                <a:lnSpc>
                  <a:spcPts val="3461"/>
                </a:lnSpc>
              </a:pPr>
              <a:r>
                <a:rPr lang="en-US" sz="2499">
                  <a:solidFill>
                    <a:srgbClr val="161613"/>
                  </a:solidFill>
                  <a:latin typeface="Calibri (MS)"/>
                  <a:ea typeface="Calibri (MS)"/>
                  <a:cs typeface="Calibri (MS)"/>
                  <a:sym typeface="Calibri (MS)"/>
                </a:rPr>
                <a:t>Automatically adjusts vehicle speed based on recognized speed limits. Can prevent speeding and adapt to changing zone limits.</a:t>
              </a:r>
            </a:p>
          </p:txBody>
        </p:sp>
        <p:grpSp>
          <p:nvGrpSpPr>
            <p:cNvPr id="45" name="Group 45"/>
            <p:cNvGrpSpPr/>
            <p:nvPr/>
          </p:nvGrpSpPr>
          <p:grpSpPr>
            <a:xfrm>
              <a:off x="19050" y="6641215"/>
              <a:ext cx="9287866" cy="3099783"/>
              <a:chOff x="0" y="0"/>
              <a:chExt cx="9287866" cy="3099783"/>
            </a:xfrm>
          </p:grpSpPr>
          <p:sp>
            <p:nvSpPr>
              <p:cNvPr id="46" name="Freeform 46"/>
              <p:cNvSpPr/>
              <p:nvPr/>
            </p:nvSpPr>
            <p:spPr>
              <a:xfrm>
                <a:off x="19050" y="23950"/>
                <a:ext cx="9249791" cy="3051867"/>
              </a:xfrm>
              <a:custGeom>
                <a:avLst/>
                <a:gdLst/>
                <a:ahLst/>
                <a:cxnLst/>
                <a:rect l="l" t="t" r="r" b="b"/>
                <a:pathLst>
                  <a:path w="9249791" h="3051867">
                    <a:moveTo>
                      <a:pt x="0" y="229920"/>
                    </a:moveTo>
                    <a:cubicBezTo>
                      <a:pt x="0" y="102985"/>
                      <a:pt x="82804" y="0"/>
                      <a:pt x="185039" y="0"/>
                    </a:cubicBezTo>
                    <a:lnTo>
                      <a:pt x="9064752" y="0"/>
                    </a:lnTo>
                    <a:cubicBezTo>
                      <a:pt x="9166860" y="0"/>
                      <a:pt x="9249791" y="102985"/>
                      <a:pt x="9249791" y="229920"/>
                    </a:cubicBezTo>
                    <a:lnTo>
                      <a:pt x="9249791" y="2821947"/>
                    </a:lnTo>
                    <a:cubicBezTo>
                      <a:pt x="9249791" y="2948882"/>
                      <a:pt x="9166987" y="3051867"/>
                      <a:pt x="9064752" y="3051867"/>
                    </a:cubicBezTo>
                    <a:lnTo>
                      <a:pt x="185039" y="3051867"/>
                    </a:lnTo>
                    <a:cubicBezTo>
                      <a:pt x="82931" y="3051867"/>
                      <a:pt x="0" y="2948882"/>
                      <a:pt x="0" y="2821947"/>
                    </a:cubicBezTo>
                    <a:close/>
                  </a:path>
                </a:pathLst>
              </a:custGeom>
              <a:solidFill>
                <a:srgbClr val="F9F8F5"/>
              </a:solidFill>
            </p:spPr>
          </p:sp>
          <p:sp>
            <p:nvSpPr>
              <p:cNvPr id="47" name="Freeform 47"/>
              <p:cNvSpPr/>
              <p:nvPr/>
            </p:nvSpPr>
            <p:spPr>
              <a:xfrm>
                <a:off x="0" y="0"/>
                <a:ext cx="9287891" cy="3099767"/>
              </a:xfrm>
              <a:custGeom>
                <a:avLst/>
                <a:gdLst/>
                <a:ahLst/>
                <a:cxnLst/>
                <a:rect l="l" t="t" r="r" b="b"/>
                <a:pathLst>
                  <a:path w="9287891" h="3099767">
                    <a:moveTo>
                      <a:pt x="0" y="253870"/>
                    </a:moveTo>
                    <a:cubicBezTo>
                      <a:pt x="0" y="113363"/>
                      <a:pt x="91567" y="0"/>
                      <a:pt x="204089" y="0"/>
                    </a:cubicBezTo>
                    <a:lnTo>
                      <a:pt x="9083802" y="0"/>
                    </a:lnTo>
                    <a:lnTo>
                      <a:pt x="9083802" y="23950"/>
                    </a:lnTo>
                    <a:lnTo>
                      <a:pt x="9083802" y="0"/>
                    </a:lnTo>
                    <a:cubicBezTo>
                      <a:pt x="9196324" y="0"/>
                      <a:pt x="9287891" y="113363"/>
                      <a:pt x="9287891" y="253870"/>
                    </a:cubicBezTo>
                    <a:lnTo>
                      <a:pt x="9268841" y="253870"/>
                    </a:lnTo>
                    <a:lnTo>
                      <a:pt x="9287891" y="253870"/>
                    </a:lnTo>
                    <a:lnTo>
                      <a:pt x="9287891" y="2845897"/>
                    </a:lnTo>
                    <a:lnTo>
                      <a:pt x="9268841" y="2845897"/>
                    </a:lnTo>
                    <a:lnTo>
                      <a:pt x="9287891" y="2845897"/>
                    </a:lnTo>
                    <a:cubicBezTo>
                      <a:pt x="9287891" y="2986404"/>
                      <a:pt x="9196324" y="3099767"/>
                      <a:pt x="9083802" y="3099767"/>
                    </a:cubicBezTo>
                    <a:lnTo>
                      <a:pt x="9083802" y="3075817"/>
                    </a:lnTo>
                    <a:lnTo>
                      <a:pt x="9083802" y="3099767"/>
                    </a:lnTo>
                    <a:lnTo>
                      <a:pt x="204089" y="3099767"/>
                    </a:lnTo>
                    <a:lnTo>
                      <a:pt x="204089" y="3075817"/>
                    </a:lnTo>
                    <a:lnTo>
                      <a:pt x="204089" y="3099767"/>
                    </a:lnTo>
                    <a:cubicBezTo>
                      <a:pt x="91567" y="3099767"/>
                      <a:pt x="0" y="2986404"/>
                      <a:pt x="0" y="2845897"/>
                    </a:cubicBezTo>
                    <a:lnTo>
                      <a:pt x="0" y="253870"/>
                    </a:lnTo>
                    <a:lnTo>
                      <a:pt x="19050" y="253870"/>
                    </a:lnTo>
                    <a:lnTo>
                      <a:pt x="0" y="253870"/>
                    </a:lnTo>
                    <a:moveTo>
                      <a:pt x="38100" y="253870"/>
                    </a:moveTo>
                    <a:lnTo>
                      <a:pt x="38100" y="2845897"/>
                    </a:lnTo>
                    <a:lnTo>
                      <a:pt x="19050" y="2845897"/>
                    </a:lnTo>
                    <a:lnTo>
                      <a:pt x="38100" y="2845897"/>
                    </a:lnTo>
                    <a:cubicBezTo>
                      <a:pt x="38100" y="2959421"/>
                      <a:pt x="112141" y="3051867"/>
                      <a:pt x="204089" y="3051867"/>
                    </a:cubicBezTo>
                    <a:lnTo>
                      <a:pt x="9083802" y="3051867"/>
                    </a:lnTo>
                    <a:cubicBezTo>
                      <a:pt x="9175623" y="3051867"/>
                      <a:pt x="9249791" y="2959421"/>
                      <a:pt x="9249791" y="2845897"/>
                    </a:cubicBezTo>
                    <a:lnTo>
                      <a:pt x="9249791" y="253870"/>
                    </a:lnTo>
                    <a:cubicBezTo>
                      <a:pt x="9249791" y="140347"/>
                      <a:pt x="9175750" y="47900"/>
                      <a:pt x="9083802" y="47900"/>
                    </a:cubicBezTo>
                    <a:lnTo>
                      <a:pt x="204089" y="47900"/>
                    </a:lnTo>
                    <a:lnTo>
                      <a:pt x="204089" y="23950"/>
                    </a:lnTo>
                    <a:lnTo>
                      <a:pt x="204089" y="47900"/>
                    </a:lnTo>
                    <a:cubicBezTo>
                      <a:pt x="112141" y="47900"/>
                      <a:pt x="38100" y="140347"/>
                      <a:pt x="38100" y="253870"/>
                    </a:cubicBezTo>
                    <a:close/>
                  </a:path>
                </a:pathLst>
              </a:custGeom>
              <a:solidFill>
                <a:srgbClr val="D3D1C9"/>
              </a:solidFill>
            </p:spPr>
          </p:sp>
        </p:grpSp>
        <p:grpSp>
          <p:nvGrpSpPr>
            <p:cNvPr id="48" name="Group 48"/>
            <p:cNvGrpSpPr/>
            <p:nvPr/>
          </p:nvGrpSpPr>
          <p:grpSpPr>
            <a:xfrm>
              <a:off x="0" y="6660265"/>
              <a:ext cx="152400" cy="3080733"/>
              <a:chOff x="0" y="0"/>
              <a:chExt cx="152400" cy="3080733"/>
            </a:xfrm>
          </p:grpSpPr>
          <p:sp>
            <p:nvSpPr>
              <p:cNvPr id="49" name="Freeform 49"/>
              <p:cNvSpPr/>
              <p:nvPr/>
            </p:nvSpPr>
            <p:spPr>
              <a:xfrm>
                <a:off x="0" y="0"/>
                <a:ext cx="152400" cy="3080717"/>
              </a:xfrm>
              <a:custGeom>
                <a:avLst/>
                <a:gdLst/>
                <a:ahLst/>
                <a:cxnLst/>
                <a:rect l="l" t="t" r="r" b="b"/>
                <a:pathLst>
                  <a:path w="152400" h="3080717">
                    <a:moveTo>
                      <a:pt x="0" y="52866"/>
                    </a:moveTo>
                    <a:cubicBezTo>
                      <a:pt x="0" y="23693"/>
                      <a:pt x="18669" y="0"/>
                      <a:pt x="41656" y="0"/>
                    </a:cubicBezTo>
                    <a:lnTo>
                      <a:pt x="110744" y="0"/>
                    </a:lnTo>
                    <a:cubicBezTo>
                      <a:pt x="133731" y="0"/>
                      <a:pt x="152400" y="23693"/>
                      <a:pt x="152400" y="52866"/>
                    </a:cubicBezTo>
                    <a:lnTo>
                      <a:pt x="152400" y="3027851"/>
                    </a:lnTo>
                    <a:cubicBezTo>
                      <a:pt x="152400" y="3057024"/>
                      <a:pt x="133731" y="3080717"/>
                      <a:pt x="110744" y="3080717"/>
                    </a:cubicBezTo>
                    <a:lnTo>
                      <a:pt x="41656" y="3080717"/>
                    </a:lnTo>
                    <a:cubicBezTo>
                      <a:pt x="18669" y="3080717"/>
                      <a:pt x="0" y="3057024"/>
                      <a:pt x="0" y="3027851"/>
                    </a:cubicBezTo>
                    <a:close/>
                  </a:path>
                </a:pathLst>
              </a:custGeom>
              <a:solidFill>
                <a:srgbClr val="28282F"/>
              </a:solidFill>
            </p:spPr>
          </p:sp>
        </p:grpSp>
        <p:sp>
          <p:nvSpPr>
            <p:cNvPr id="50" name="TextBox 50"/>
            <p:cNvSpPr txBox="1"/>
            <p:nvPr/>
          </p:nvSpPr>
          <p:spPr>
            <a:xfrm>
              <a:off x="468313" y="6739545"/>
              <a:ext cx="4251820" cy="544830"/>
            </a:xfrm>
            <a:prstGeom prst="rect">
              <a:avLst/>
            </a:prstGeom>
          </p:spPr>
          <p:txBody>
            <a:bodyPr lIns="0" tIns="0" rIns="0" bIns="0" rtlCol="0" anchor="t">
              <a:spAutoFit/>
            </a:bodyPr>
            <a:lstStyle/>
            <a:p>
              <a:pPr algn="l">
                <a:lnSpc>
                  <a:spcPts val="3075"/>
                </a:lnSpc>
              </a:pPr>
              <a:r>
                <a:rPr lang="en-US" sz="2400" b="1" u="sng">
                  <a:solidFill>
                    <a:srgbClr val="161613"/>
                  </a:solidFill>
                  <a:latin typeface="Calibri (MS) Bold"/>
                  <a:ea typeface="Calibri (MS) Bold"/>
                  <a:cs typeface="Calibri (MS) Bold"/>
                  <a:sym typeface="Calibri (MS) Bold"/>
                </a:rPr>
                <a:t>Automotive Navigation</a:t>
              </a:r>
            </a:p>
          </p:txBody>
        </p:sp>
        <p:sp>
          <p:nvSpPr>
            <p:cNvPr id="51" name="TextBox 51"/>
            <p:cNvSpPr txBox="1"/>
            <p:nvPr/>
          </p:nvSpPr>
          <p:spPr>
            <a:xfrm>
              <a:off x="468312" y="7189125"/>
              <a:ext cx="8503641" cy="2354249"/>
            </a:xfrm>
            <a:prstGeom prst="rect">
              <a:avLst/>
            </a:prstGeom>
          </p:spPr>
          <p:txBody>
            <a:bodyPr lIns="0" tIns="0" rIns="0" bIns="0" rtlCol="0" anchor="t">
              <a:spAutoFit/>
            </a:bodyPr>
            <a:lstStyle/>
            <a:p>
              <a:pPr algn="l">
                <a:lnSpc>
                  <a:spcPts val="3461"/>
                </a:lnSpc>
              </a:pPr>
              <a:r>
                <a:rPr lang="en-US" sz="2499">
                  <a:solidFill>
                    <a:srgbClr val="161613"/>
                  </a:solidFill>
                  <a:latin typeface="Calibri (MS)"/>
                  <a:ea typeface="Calibri (MS)"/>
                  <a:cs typeface="Calibri (MS)"/>
                  <a:sym typeface="Calibri (MS)"/>
                </a:rPr>
                <a:t>GPS-based route guidance with real-time traffic updates, congestion alerts, and optimal routing. Integrates with vehicle systems for enhanced driving experience.</a:t>
              </a:r>
            </a:p>
          </p:txBody>
        </p:sp>
      </p:grpSp>
      <p:sp>
        <p:nvSpPr>
          <p:cNvPr id="52" name="TextBox 52"/>
          <p:cNvSpPr txBox="1"/>
          <p:nvPr/>
        </p:nvSpPr>
        <p:spPr>
          <a:xfrm>
            <a:off x="3214059" y="51845"/>
            <a:ext cx="11859882" cy="893959"/>
          </a:xfrm>
          <a:prstGeom prst="rect">
            <a:avLst/>
          </a:prstGeom>
        </p:spPr>
        <p:txBody>
          <a:bodyPr lIns="0" tIns="0" rIns="0" bIns="0" rtlCol="0" anchor="t">
            <a:spAutoFit/>
          </a:bodyPr>
          <a:lstStyle/>
          <a:p>
            <a:pPr algn="ctr">
              <a:lnSpc>
                <a:spcPts val="6235"/>
              </a:lnSpc>
            </a:pPr>
            <a:r>
              <a:rPr lang="en-US" sz="5000" b="1">
                <a:solidFill>
                  <a:srgbClr val="161613"/>
                </a:solidFill>
                <a:latin typeface="Calibri (MS) Bold"/>
                <a:ea typeface="Calibri (MS) Bold"/>
                <a:cs typeface="Calibri (MS) Bold"/>
                <a:sym typeface="Calibri (MS) Bold"/>
              </a:rPr>
              <a:t>Vision, Display &amp; Intelligent Driving Systems</a:t>
            </a:r>
          </a:p>
        </p:txBody>
      </p:sp>
      <p:sp>
        <p:nvSpPr>
          <p:cNvPr id="53" name="TextBox 53"/>
          <p:cNvSpPr txBox="1"/>
          <p:nvPr/>
        </p:nvSpPr>
        <p:spPr>
          <a:xfrm>
            <a:off x="809291" y="1401461"/>
            <a:ext cx="7023570" cy="1351085"/>
          </a:xfrm>
          <a:prstGeom prst="rect">
            <a:avLst/>
          </a:prstGeom>
        </p:spPr>
        <p:txBody>
          <a:bodyPr lIns="0" tIns="0" rIns="0" bIns="0" rtlCol="0" anchor="t">
            <a:spAutoFit/>
          </a:bodyPr>
          <a:lstStyle/>
          <a:p>
            <a:pPr algn="l">
              <a:lnSpc>
                <a:spcPts val="3461"/>
              </a:lnSpc>
            </a:pPr>
            <a:r>
              <a:rPr lang="en-US" sz="2499">
                <a:solidFill>
                  <a:srgbClr val="161613"/>
                </a:solidFill>
                <a:latin typeface="Calibri (MS)"/>
                <a:ea typeface="Calibri (MS)"/>
                <a:cs typeface="Calibri (MS)"/>
                <a:sym typeface="Calibri (MS)"/>
              </a:rPr>
              <a:t>Vision and Display Systems help the driver in perceving vision in extreme situations, mentioned below:</a:t>
            </a:r>
          </a:p>
        </p:txBody>
      </p:sp>
      <p:sp>
        <p:nvSpPr>
          <p:cNvPr id="54" name="TextBox 54"/>
          <p:cNvSpPr txBox="1"/>
          <p:nvPr/>
        </p:nvSpPr>
        <p:spPr>
          <a:xfrm>
            <a:off x="9964256" y="1501269"/>
            <a:ext cx="8070213" cy="831899"/>
          </a:xfrm>
          <a:prstGeom prst="rect">
            <a:avLst/>
          </a:prstGeom>
        </p:spPr>
        <p:txBody>
          <a:bodyPr lIns="0" tIns="0" rIns="0" bIns="0" rtlCol="0" anchor="t">
            <a:spAutoFit/>
          </a:bodyPr>
          <a:lstStyle/>
          <a:p>
            <a:pPr algn="l">
              <a:lnSpc>
                <a:spcPts val="3184"/>
              </a:lnSpc>
            </a:pPr>
            <a:r>
              <a:rPr lang="en-US" sz="2300">
                <a:solidFill>
                  <a:srgbClr val="161613"/>
                </a:solidFill>
                <a:latin typeface="Calibri (MS)"/>
                <a:ea typeface="Calibri (MS)"/>
                <a:cs typeface="Calibri (MS)"/>
                <a:sym typeface="Calibri (MS)"/>
              </a:rPr>
              <a:t>IDS represent the integration of advanced sensors, AI and control algorithms to enhance vehicle safety, comfort, and autonomy</a:t>
            </a:r>
          </a:p>
        </p:txBody>
      </p:sp>
      <p:sp>
        <p:nvSpPr>
          <p:cNvPr id="55" name="TextBox 55"/>
          <p:cNvSpPr txBox="1"/>
          <p:nvPr/>
        </p:nvSpPr>
        <p:spPr>
          <a:xfrm>
            <a:off x="17460227" y="9929350"/>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272728">
                    <a:alpha val="47843"/>
                  </a:srgbClr>
                </a:solidFill>
                <a:latin typeface="Canva Sans"/>
                <a:ea typeface="Canva Sans"/>
                <a:cs typeface="Canva Sans"/>
                <a:sym typeface="Canva Sans"/>
              </a:rPr>
              <a:t>Page 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9F8F5"/>
            </a:solidFill>
          </p:spPr>
        </p:sp>
      </p:grpSp>
      <p:grpSp>
        <p:nvGrpSpPr>
          <p:cNvPr id="4" name="Group 4"/>
          <p:cNvGrpSpPr/>
          <p:nvPr/>
        </p:nvGrpSpPr>
        <p:grpSpPr>
          <a:xfrm>
            <a:off x="10885768" y="945804"/>
            <a:ext cx="7013479" cy="2682604"/>
            <a:chOff x="0" y="0"/>
            <a:chExt cx="9479279" cy="3625754"/>
          </a:xfrm>
        </p:grpSpPr>
        <p:sp>
          <p:nvSpPr>
            <p:cNvPr id="5" name="Freeform 5"/>
            <p:cNvSpPr/>
            <p:nvPr/>
          </p:nvSpPr>
          <p:spPr>
            <a:xfrm>
              <a:off x="0" y="0"/>
              <a:ext cx="9479279" cy="3625754"/>
            </a:xfrm>
            <a:custGeom>
              <a:avLst/>
              <a:gdLst/>
              <a:ahLst/>
              <a:cxnLst/>
              <a:rect l="l" t="t" r="r" b="b"/>
              <a:pathLst>
                <a:path w="9479279" h="3625754">
                  <a:moveTo>
                    <a:pt x="0" y="0"/>
                  </a:moveTo>
                  <a:lnTo>
                    <a:pt x="9479279" y="0"/>
                  </a:lnTo>
                  <a:lnTo>
                    <a:pt x="9479279" y="3625754"/>
                  </a:lnTo>
                  <a:lnTo>
                    <a:pt x="0" y="3625754"/>
                  </a:lnTo>
                  <a:lnTo>
                    <a:pt x="0" y="0"/>
                  </a:lnTo>
                  <a:close/>
                </a:path>
              </a:pathLst>
            </a:custGeom>
            <a:blipFill>
              <a:blip r:embed="rId2"/>
              <a:stretch>
                <a:fillRect t="-654" b="-654"/>
              </a:stretch>
            </a:blipFill>
          </p:spPr>
        </p:sp>
      </p:grpSp>
      <p:sp>
        <p:nvSpPr>
          <p:cNvPr id="6" name="TextBox 6"/>
          <p:cNvSpPr txBox="1"/>
          <p:nvPr/>
        </p:nvSpPr>
        <p:spPr>
          <a:xfrm>
            <a:off x="654898" y="1842752"/>
            <a:ext cx="9891371" cy="8050782"/>
          </a:xfrm>
          <a:prstGeom prst="rect">
            <a:avLst/>
          </a:prstGeom>
        </p:spPr>
        <p:txBody>
          <a:bodyPr lIns="0" tIns="0" rIns="0" bIns="0" rtlCol="0" anchor="t">
            <a:spAutoFit/>
          </a:bodyPr>
          <a:lstStyle/>
          <a:p>
            <a:pPr marL="539749" lvl="1" indent="-269875" algn="l">
              <a:lnSpc>
                <a:spcPts val="3202"/>
              </a:lnSpc>
              <a:buFont typeface="Arial"/>
              <a:buChar char="•"/>
            </a:pPr>
            <a:r>
              <a:rPr lang="en-US" sz="2499" b="1">
                <a:solidFill>
                  <a:srgbClr val="161613"/>
                </a:solidFill>
                <a:latin typeface="Calibri (MS) Bold"/>
                <a:ea typeface="Calibri (MS) Bold"/>
                <a:cs typeface="Calibri (MS) Bold"/>
                <a:sym typeface="Calibri (MS) Bold"/>
              </a:rPr>
              <a:t>Blind Spot Monitoring: </a:t>
            </a:r>
            <a:r>
              <a:rPr lang="en-US" sz="2499">
                <a:solidFill>
                  <a:srgbClr val="161613"/>
                </a:solidFill>
                <a:latin typeface="Calibri (MS)"/>
                <a:ea typeface="Calibri (MS)"/>
                <a:cs typeface="Calibri (MS)"/>
                <a:sym typeface="Calibri (MS)"/>
              </a:rPr>
              <a:t> Detects vehicles in the driver’s blind spots using sensors. It alerts the driver during lane changes to prevent collisions.</a:t>
            </a:r>
          </a:p>
          <a:p>
            <a:pPr algn="l">
              <a:lnSpc>
                <a:spcPts val="3202"/>
              </a:lnSpc>
            </a:pPr>
            <a:endParaRPr lang="en-US" sz="2499">
              <a:solidFill>
                <a:srgbClr val="161613"/>
              </a:solidFill>
              <a:latin typeface="Calibri (MS)"/>
              <a:ea typeface="Calibri (MS)"/>
              <a:cs typeface="Calibri (MS)"/>
              <a:sym typeface="Calibri (MS)"/>
            </a:endParaRPr>
          </a:p>
          <a:p>
            <a:pPr marL="539749" lvl="1" indent="-269875" algn="l">
              <a:lnSpc>
                <a:spcPts val="3202"/>
              </a:lnSpc>
              <a:buFont typeface="Arial"/>
              <a:buChar char="•"/>
            </a:pPr>
            <a:r>
              <a:rPr lang="en-US" sz="2499" b="1">
                <a:solidFill>
                  <a:srgbClr val="161613"/>
                </a:solidFill>
                <a:latin typeface="Calibri (MS) Bold"/>
                <a:ea typeface="Calibri (MS) Bold"/>
                <a:cs typeface="Calibri (MS) Bold"/>
                <a:sym typeface="Calibri (MS) Bold"/>
              </a:rPr>
              <a:t>Omniview Technology (360° Camera System): </a:t>
            </a:r>
            <a:r>
              <a:rPr lang="en-US" sz="2499">
                <a:solidFill>
                  <a:srgbClr val="161613"/>
                </a:solidFill>
                <a:latin typeface="Calibri (MS)"/>
                <a:ea typeface="Calibri (MS)"/>
                <a:cs typeface="Calibri (MS)"/>
                <a:sym typeface="Calibri (MS)"/>
              </a:rPr>
              <a:t>Uses multiple cameras to provide a 360° bird’s-eye view around the vehicle. It helps drivers park and maneuver in tight spaces safely.</a:t>
            </a:r>
          </a:p>
          <a:p>
            <a:pPr algn="l">
              <a:lnSpc>
                <a:spcPts val="3202"/>
              </a:lnSpc>
            </a:pPr>
            <a:endParaRPr lang="en-US" sz="2499">
              <a:solidFill>
                <a:srgbClr val="161613"/>
              </a:solidFill>
              <a:latin typeface="Calibri (MS)"/>
              <a:ea typeface="Calibri (MS)"/>
              <a:cs typeface="Calibri (MS)"/>
              <a:sym typeface="Calibri (MS)"/>
            </a:endParaRPr>
          </a:p>
          <a:p>
            <a:pPr marL="539749" lvl="1" indent="-269875" algn="l">
              <a:lnSpc>
                <a:spcPts val="3202"/>
              </a:lnSpc>
              <a:buFont typeface="Arial"/>
              <a:buChar char="•"/>
            </a:pPr>
            <a:r>
              <a:rPr lang="en-US" sz="2499" b="1">
                <a:solidFill>
                  <a:srgbClr val="161613"/>
                </a:solidFill>
                <a:latin typeface="Calibri (MS) Bold"/>
                <a:ea typeface="Calibri (MS) Bold"/>
                <a:cs typeface="Calibri (MS) Bold"/>
                <a:sym typeface="Calibri (MS) Bold"/>
              </a:rPr>
              <a:t>Traffic Sign Recognition (TSR): </a:t>
            </a:r>
            <a:r>
              <a:rPr lang="en-US" sz="2499">
                <a:solidFill>
                  <a:srgbClr val="161613"/>
                </a:solidFill>
                <a:latin typeface="Calibri (MS)"/>
                <a:ea typeface="Calibri (MS)"/>
                <a:cs typeface="Calibri (MS)"/>
                <a:sym typeface="Calibri (MS)"/>
              </a:rPr>
              <a:t> Uses cameras to detect and read road signs such as speed limits and warnings. The information is displayed on the vehicle’s dashboard.</a:t>
            </a:r>
          </a:p>
          <a:p>
            <a:pPr algn="l">
              <a:lnSpc>
                <a:spcPts val="3202"/>
              </a:lnSpc>
            </a:pPr>
            <a:endParaRPr lang="en-US" sz="2499">
              <a:solidFill>
                <a:srgbClr val="161613"/>
              </a:solidFill>
              <a:latin typeface="Calibri (MS)"/>
              <a:ea typeface="Calibri (MS)"/>
              <a:cs typeface="Calibri (MS)"/>
              <a:sym typeface="Calibri (MS)"/>
            </a:endParaRPr>
          </a:p>
          <a:p>
            <a:pPr marL="539749" lvl="1" indent="-269875" algn="l">
              <a:lnSpc>
                <a:spcPts val="3202"/>
              </a:lnSpc>
              <a:buFont typeface="Arial"/>
              <a:buChar char="•"/>
            </a:pPr>
            <a:r>
              <a:rPr lang="en-US" sz="2499" b="1">
                <a:solidFill>
                  <a:srgbClr val="161613"/>
                </a:solidFill>
                <a:latin typeface="Calibri (MS) Bold"/>
                <a:ea typeface="Calibri (MS) Bold"/>
                <a:cs typeface="Calibri (MS) Bold"/>
                <a:sym typeface="Calibri (MS) Bold"/>
              </a:rPr>
              <a:t>Rearview Camera: </a:t>
            </a:r>
            <a:r>
              <a:rPr lang="en-US" sz="2499">
                <a:solidFill>
                  <a:srgbClr val="161613"/>
                </a:solidFill>
                <a:latin typeface="Calibri (MS)"/>
                <a:ea typeface="Calibri (MS)"/>
                <a:cs typeface="Calibri (MS)"/>
                <a:sym typeface="Calibri (MS)"/>
              </a:rPr>
              <a:t> Displays a live video of the area behind the vehicle while reversing. It helps the driver see obstacles and avoid accidents.</a:t>
            </a:r>
          </a:p>
          <a:p>
            <a:pPr algn="l">
              <a:lnSpc>
                <a:spcPts val="3202"/>
              </a:lnSpc>
            </a:pPr>
            <a:endParaRPr lang="en-US" sz="2499">
              <a:solidFill>
                <a:srgbClr val="161613"/>
              </a:solidFill>
              <a:latin typeface="Calibri (MS)"/>
              <a:ea typeface="Calibri (MS)"/>
              <a:cs typeface="Calibri (MS)"/>
              <a:sym typeface="Calibri (MS)"/>
            </a:endParaRPr>
          </a:p>
          <a:p>
            <a:pPr marL="539749" lvl="1" indent="-269875" algn="l">
              <a:lnSpc>
                <a:spcPts val="3203"/>
              </a:lnSpc>
              <a:buFont typeface="Arial"/>
              <a:buChar char="•"/>
            </a:pPr>
            <a:r>
              <a:rPr lang="en-US" sz="2499" b="1">
                <a:solidFill>
                  <a:srgbClr val="161613"/>
                </a:solidFill>
                <a:latin typeface="Calibri (MS) Bold"/>
                <a:ea typeface="Calibri (MS) Bold"/>
                <a:cs typeface="Calibri (MS) Bold"/>
                <a:sym typeface="Calibri (MS) Bold"/>
              </a:rPr>
              <a:t>Automatic Emergency Braking (AEB):</a:t>
            </a:r>
            <a:r>
              <a:rPr lang="en-US" sz="2499">
                <a:solidFill>
                  <a:srgbClr val="161613"/>
                </a:solidFill>
                <a:latin typeface="Calibri (MS)"/>
                <a:ea typeface="Calibri (MS)"/>
                <a:cs typeface="Calibri (MS)"/>
                <a:sym typeface="Calibri (MS)"/>
              </a:rPr>
              <a:t> Detects potential collisions using sensors, radar, or cameras. The system first warns the driver if an obstacle or vehicle is detected ahead. If the driver does not react in time, it automatically applies the brakes to prevent the crash or reduce its impact. This feature significantly improves road safety and reduces accident severity.</a:t>
            </a:r>
          </a:p>
        </p:txBody>
      </p:sp>
      <p:grpSp>
        <p:nvGrpSpPr>
          <p:cNvPr id="7" name="Group 7"/>
          <p:cNvGrpSpPr/>
          <p:nvPr/>
        </p:nvGrpSpPr>
        <p:grpSpPr>
          <a:xfrm>
            <a:off x="12193307" y="3883072"/>
            <a:ext cx="5761268" cy="3111030"/>
            <a:chOff x="0" y="0"/>
            <a:chExt cx="7681691" cy="4148040"/>
          </a:xfrm>
        </p:grpSpPr>
        <p:grpSp>
          <p:nvGrpSpPr>
            <p:cNvPr id="8" name="Group 8"/>
            <p:cNvGrpSpPr/>
            <p:nvPr/>
          </p:nvGrpSpPr>
          <p:grpSpPr>
            <a:xfrm>
              <a:off x="0" y="0"/>
              <a:ext cx="7681691" cy="3807485"/>
              <a:chOff x="0" y="0"/>
              <a:chExt cx="7315043" cy="3625754"/>
            </a:xfrm>
          </p:grpSpPr>
          <p:sp>
            <p:nvSpPr>
              <p:cNvPr id="9" name="Freeform 9"/>
              <p:cNvSpPr/>
              <p:nvPr/>
            </p:nvSpPr>
            <p:spPr>
              <a:xfrm>
                <a:off x="0" y="0"/>
                <a:ext cx="7315043" cy="3625754"/>
              </a:xfrm>
              <a:custGeom>
                <a:avLst/>
                <a:gdLst/>
                <a:ahLst/>
                <a:cxnLst/>
                <a:rect l="l" t="t" r="r" b="b"/>
                <a:pathLst>
                  <a:path w="7315043" h="3625754">
                    <a:moveTo>
                      <a:pt x="0" y="0"/>
                    </a:moveTo>
                    <a:lnTo>
                      <a:pt x="7315043" y="0"/>
                    </a:lnTo>
                    <a:lnTo>
                      <a:pt x="7315043" y="3625754"/>
                    </a:lnTo>
                    <a:lnTo>
                      <a:pt x="0" y="3625754"/>
                    </a:lnTo>
                    <a:lnTo>
                      <a:pt x="0" y="0"/>
                    </a:lnTo>
                    <a:close/>
                  </a:path>
                </a:pathLst>
              </a:custGeom>
              <a:blipFill>
                <a:blip r:embed="rId3"/>
                <a:stretch>
                  <a:fillRect t="-6742" b="-6742"/>
                </a:stretch>
              </a:blipFill>
            </p:spPr>
          </p:sp>
        </p:grpSp>
        <p:sp>
          <p:nvSpPr>
            <p:cNvPr id="10" name="TextBox 10"/>
            <p:cNvSpPr txBox="1"/>
            <p:nvPr/>
          </p:nvSpPr>
          <p:spPr>
            <a:xfrm>
              <a:off x="2302593" y="3740810"/>
              <a:ext cx="2825727" cy="407230"/>
            </a:xfrm>
            <a:prstGeom prst="rect">
              <a:avLst/>
            </a:prstGeom>
          </p:spPr>
          <p:txBody>
            <a:bodyPr lIns="0" tIns="0" rIns="0" bIns="0" rtlCol="0" anchor="t">
              <a:spAutoFit/>
            </a:bodyPr>
            <a:lstStyle/>
            <a:p>
              <a:pPr algn="l">
                <a:lnSpc>
                  <a:spcPts val="2353"/>
                </a:lnSpc>
              </a:pPr>
              <a:r>
                <a:rPr lang="en-US" sz="1700" b="1">
                  <a:solidFill>
                    <a:srgbClr val="161613"/>
                  </a:solidFill>
                  <a:latin typeface="Calibri (MS) Bold"/>
                  <a:ea typeface="Calibri (MS) Bold"/>
                  <a:cs typeface="Calibri (MS) Bold"/>
                  <a:sym typeface="Calibri (MS) Bold"/>
                </a:rPr>
                <a:t>Traffic Sign Recognition</a:t>
              </a:r>
            </a:p>
          </p:txBody>
        </p:sp>
      </p:grpSp>
      <p:sp>
        <p:nvSpPr>
          <p:cNvPr id="11" name="TextBox 11"/>
          <p:cNvSpPr txBox="1"/>
          <p:nvPr/>
        </p:nvSpPr>
        <p:spPr>
          <a:xfrm>
            <a:off x="3214059" y="51845"/>
            <a:ext cx="11859882" cy="893959"/>
          </a:xfrm>
          <a:prstGeom prst="rect">
            <a:avLst/>
          </a:prstGeom>
        </p:spPr>
        <p:txBody>
          <a:bodyPr lIns="0" tIns="0" rIns="0" bIns="0" rtlCol="0" anchor="t">
            <a:spAutoFit/>
          </a:bodyPr>
          <a:lstStyle/>
          <a:p>
            <a:pPr algn="ctr">
              <a:lnSpc>
                <a:spcPts val="6235"/>
              </a:lnSpc>
            </a:pPr>
            <a:r>
              <a:rPr lang="en-US" sz="5000" b="1">
                <a:solidFill>
                  <a:srgbClr val="161613"/>
                </a:solidFill>
                <a:latin typeface="Calibri (MS) Bold"/>
                <a:ea typeface="Calibri (MS) Bold"/>
                <a:cs typeface="Calibri (MS) Bold"/>
                <a:sym typeface="Calibri (MS) Bold"/>
              </a:rPr>
              <a:t>Other ADAS Features</a:t>
            </a:r>
          </a:p>
        </p:txBody>
      </p:sp>
      <p:sp>
        <p:nvSpPr>
          <p:cNvPr id="12" name="TextBox 12"/>
          <p:cNvSpPr txBox="1"/>
          <p:nvPr/>
        </p:nvSpPr>
        <p:spPr>
          <a:xfrm>
            <a:off x="1028700" y="1148826"/>
            <a:ext cx="8070213" cy="474851"/>
          </a:xfrm>
          <a:prstGeom prst="rect">
            <a:avLst/>
          </a:prstGeom>
        </p:spPr>
        <p:txBody>
          <a:bodyPr lIns="0" tIns="0" rIns="0" bIns="0" rtlCol="0" anchor="t">
            <a:spAutoFit/>
          </a:bodyPr>
          <a:lstStyle/>
          <a:p>
            <a:pPr algn="l">
              <a:lnSpc>
                <a:spcPts val="3461"/>
              </a:lnSpc>
            </a:pPr>
            <a:r>
              <a:rPr lang="en-US" sz="2499">
                <a:solidFill>
                  <a:srgbClr val="161613"/>
                </a:solidFill>
                <a:latin typeface="Calibri (MS)"/>
                <a:ea typeface="Calibri (MS)"/>
                <a:cs typeface="Calibri (MS)"/>
                <a:sym typeface="Calibri (MS)"/>
              </a:rPr>
              <a:t>Some other ADAS systems are mentioned here below:</a:t>
            </a:r>
          </a:p>
        </p:txBody>
      </p:sp>
      <p:grpSp>
        <p:nvGrpSpPr>
          <p:cNvPr id="13" name="Group 13"/>
          <p:cNvGrpSpPr/>
          <p:nvPr/>
        </p:nvGrpSpPr>
        <p:grpSpPr>
          <a:xfrm>
            <a:off x="12998438" y="7159054"/>
            <a:ext cx="4151007" cy="3024164"/>
            <a:chOff x="0" y="0"/>
            <a:chExt cx="5534676" cy="4032219"/>
          </a:xfrm>
        </p:grpSpPr>
        <p:grpSp>
          <p:nvGrpSpPr>
            <p:cNvPr id="14" name="Group 14"/>
            <p:cNvGrpSpPr/>
            <p:nvPr/>
          </p:nvGrpSpPr>
          <p:grpSpPr>
            <a:xfrm>
              <a:off x="0" y="0"/>
              <a:ext cx="5534676" cy="3802299"/>
              <a:chOff x="0" y="0"/>
              <a:chExt cx="7660417" cy="5262675"/>
            </a:xfrm>
          </p:grpSpPr>
          <p:sp>
            <p:nvSpPr>
              <p:cNvPr id="15" name="Freeform 15"/>
              <p:cNvSpPr/>
              <p:nvPr/>
            </p:nvSpPr>
            <p:spPr>
              <a:xfrm>
                <a:off x="0" y="0"/>
                <a:ext cx="7660418" cy="5262675"/>
              </a:xfrm>
              <a:custGeom>
                <a:avLst/>
                <a:gdLst/>
                <a:ahLst/>
                <a:cxnLst/>
                <a:rect l="l" t="t" r="r" b="b"/>
                <a:pathLst>
                  <a:path w="7660418" h="5262675">
                    <a:moveTo>
                      <a:pt x="0" y="0"/>
                    </a:moveTo>
                    <a:lnTo>
                      <a:pt x="7660418" y="0"/>
                    </a:lnTo>
                    <a:lnTo>
                      <a:pt x="7660418" y="5262675"/>
                    </a:lnTo>
                    <a:lnTo>
                      <a:pt x="0" y="5262675"/>
                    </a:lnTo>
                    <a:lnTo>
                      <a:pt x="0" y="0"/>
                    </a:lnTo>
                    <a:close/>
                  </a:path>
                </a:pathLst>
              </a:custGeom>
              <a:blipFill>
                <a:blip r:embed="rId4"/>
                <a:stretch>
                  <a:fillRect l="-1946" r="-1946"/>
                </a:stretch>
              </a:blipFill>
            </p:spPr>
          </p:sp>
        </p:grpSp>
        <p:sp>
          <p:nvSpPr>
            <p:cNvPr id="16" name="TextBox 16"/>
            <p:cNvSpPr txBox="1"/>
            <p:nvPr/>
          </p:nvSpPr>
          <p:spPr>
            <a:xfrm>
              <a:off x="2457735" y="3624989"/>
              <a:ext cx="653696" cy="407230"/>
            </a:xfrm>
            <a:prstGeom prst="rect">
              <a:avLst/>
            </a:prstGeom>
          </p:spPr>
          <p:txBody>
            <a:bodyPr lIns="0" tIns="0" rIns="0" bIns="0" rtlCol="0" anchor="t">
              <a:spAutoFit/>
            </a:bodyPr>
            <a:lstStyle/>
            <a:p>
              <a:pPr algn="ctr">
                <a:lnSpc>
                  <a:spcPts val="2353"/>
                </a:lnSpc>
              </a:pPr>
              <a:r>
                <a:rPr lang="en-US" sz="1700" b="1">
                  <a:solidFill>
                    <a:srgbClr val="161613"/>
                  </a:solidFill>
                  <a:latin typeface="Calibri (MS) Bold"/>
                  <a:ea typeface="Calibri (MS) Bold"/>
                  <a:cs typeface="Calibri (MS) Bold"/>
                  <a:sym typeface="Calibri (MS) Bold"/>
                </a:rPr>
                <a:t>AEB</a:t>
              </a:r>
            </a:p>
          </p:txBody>
        </p:sp>
      </p:grpSp>
      <p:sp>
        <p:nvSpPr>
          <p:cNvPr id="17" name="TextBox 17"/>
          <p:cNvSpPr txBox="1"/>
          <p:nvPr/>
        </p:nvSpPr>
        <p:spPr>
          <a:xfrm>
            <a:off x="17460227" y="9929350"/>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272728">
                    <a:alpha val="47843"/>
                  </a:srgbClr>
                </a:solidFill>
                <a:latin typeface="Canva Sans"/>
                <a:ea typeface="Canva Sans"/>
                <a:cs typeface="Canva Sans"/>
                <a:sym typeface="Canva Sans"/>
              </a:rPr>
              <a:t>Page 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9F8F5"/>
            </a:solidFill>
          </p:spPr>
        </p:sp>
      </p:grpSp>
      <p:sp>
        <p:nvSpPr>
          <p:cNvPr id="4" name="TextBox 4"/>
          <p:cNvSpPr txBox="1"/>
          <p:nvPr/>
        </p:nvSpPr>
        <p:spPr>
          <a:xfrm>
            <a:off x="3168972" y="134708"/>
            <a:ext cx="11859882" cy="893992"/>
          </a:xfrm>
          <a:prstGeom prst="rect">
            <a:avLst/>
          </a:prstGeom>
        </p:spPr>
        <p:txBody>
          <a:bodyPr lIns="0" tIns="0" rIns="0" bIns="0" rtlCol="0" anchor="t">
            <a:spAutoFit/>
          </a:bodyPr>
          <a:lstStyle/>
          <a:p>
            <a:pPr algn="ctr">
              <a:lnSpc>
                <a:spcPts val="6235"/>
              </a:lnSpc>
            </a:pPr>
            <a:r>
              <a:rPr lang="en-US" sz="5000" b="1">
                <a:solidFill>
                  <a:srgbClr val="161613"/>
                </a:solidFill>
                <a:latin typeface="Calibri (MS) Bold"/>
                <a:ea typeface="Calibri (MS) Bold"/>
                <a:cs typeface="Calibri (MS) Bold"/>
                <a:sym typeface="Calibri (MS) Bold"/>
              </a:rPr>
              <a:t>Conclusion &amp; Future of ADAS</a:t>
            </a:r>
          </a:p>
        </p:txBody>
      </p:sp>
      <p:sp>
        <p:nvSpPr>
          <p:cNvPr id="5" name="TextBox 5"/>
          <p:cNvSpPr txBox="1"/>
          <p:nvPr/>
        </p:nvSpPr>
        <p:spPr>
          <a:xfrm>
            <a:off x="17460227" y="9929350"/>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272728">
                    <a:alpha val="47843"/>
                  </a:srgbClr>
                </a:solidFill>
                <a:latin typeface="Canva Sans"/>
                <a:ea typeface="Canva Sans"/>
                <a:cs typeface="Canva Sans"/>
                <a:sym typeface="Canva Sans"/>
              </a:rPr>
              <a:t>Page 14</a:t>
            </a:r>
          </a:p>
        </p:txBody>
      </p:sp>
      <p:grpSp>
        <p:nvGrpSpPr>
          <p:cNvPr id="6" name="Group 6"/>
          <p:cNvGrpSpPr/>
          <p:nvPr/>
        </p:nvGrpSpPr>
        <p:grpSpPr>
          <a:xfrm>
            <a:off x="992238" y="1143653"/>
            <a:ext cx="16303523" cy="3919735"/>
            <a:chOff x="0" y="0"/>
            <a:chExt cx="21738031" cy="5226313"/>
          </a:xfrm>
        </p:grpSpPr>
        <p:sp>
          <p:nvSpPr>
            <p:cNvPr id="7" name="TextBox 7"/>
            <p:cNvSpPr txBox="1"/>
            <p:nvPr/>
          </p:nvSpPr>
          <p:spPr>
            <a:xfrm>
              <a:off x="0" y="539704"/>
              <a:ext cx="21738031" cy="4686609"/>
            </a:xfrm>
            <a:prstGeom prst="rect">
              <a:avLst/>
            </a:prstGeom>
          </p:spPr>
          <p:txBody>
            <a:bodyPr lIns="0" tIns="0" rIns="0" bIns="0" rtlCol="0" anchor="t">
              <a:spAutoFit/>
            </a:bodyPr>
            <a:lstStyle/>
            <a:p>
              <a:pPr marL="539749" lvl="1" indent="-269875" algn="l">
                <a:lnSpc>
                  <a:spcPts val="4049"/>
                </a:lnSpc>
                <a:buFont typeface="Arial"/>
                <a:buChar char="•"/>
              </a:pPr>
              <a:r>
                <a:rPr lang="en-US" sz="2499">
                  <a:solidFill>
                    <a:srgbClr val="161613"/>
                  </a:solidFill>
                  <a:latin typeface="Calibri (MS)"/>
                  <a:ea typeface="Calibri (MS)"/>
                  <a:cs typeface="Calibri (MS)"/>
                  <a:sym typeface="Calibri (MS)"/>
                </a:rPr>
                <a:t>The Advanced Driver Assistance Systems significantly reduce road accidents by minimizing or even completely eliminating human errors through real-time automated safety features. Hence, these have gained popularity among buyers and even governments to necessitate some basic ADAS features to be present in every modern vehicles.</a:t>
              </a:r>
            </a:p>
            <a:p>
              <a:pPr marL="539749" lvl="1" indent="-269875" algn="l">
                <a:lnSpc>
                  <a:spcPts val="4049"/>
                </a:lnSpc>
                <a:buFont typeface="Arial"/>
                <a:buChar char="•"/>
              </a:pPr>
              <a:r>
                <a:rPr lang="en-US" sz="2499">
                  <a:solidFill>
                    <a:srgbClr val="161613"/>
                  </a:solidFill>
                  <a:latin typeface="Calibri (MS)"/>
                  <a:ea typeface="Calibri (MS)"/>
                  <a:cs typeface="Calibri (MS)"/>
                  <a:sym typeface="Calibri (MS)"/>
                </a:rPr>
                <a:t>ADAS lays the technological foundation for the autonomous vehicles of tomorrow. The technological advancement and modernization of Advanced Driver Assistance Systems paves the way for complete self-driving cars.</a:t>
              </a:r>
            </a:p>
            <a:p>
              <a:pPr marL="539749" lvl="1" indent="-269875" algn="l">
                <a:lnSpc>
                  <a:spcPts val="4049"/>
                </a:lnSpc>
                <a:buFont typeface="Arial"/>
                <a:buChar char="•"/>
              </a:pPr>
              <a:r>
                <a:rPr lang="en-US" sz="2499">
                  <a:solidFill>
                    <a:srgbClr val="161613"/>
                  </a:solidFill>
                  <a:latin typeface="Calibri (MS)"/>
                  <a:ea typeface="Calibri (MS)"/>
                  <a:cs typeface="Calibri (MS)"/>
                  <a:sym typeface="Calibri (MS)"/>
                </a:rPr>
                <a:t>ADAS combines technologies and domains ranging from Electronics, IoT, Computer Science, Networking and Automative Engineering to create intelligent vehicles.</a:t>
              </a:r>
            </a:p>
          </p:txBody>
        </p:sp>
        <p:sp>
          <p:nvSpPr>
            <p:cNvPr id="8" name="TextBox 8"/>
            <p:cNvSpPr txBox="1"/>
            <p:nvPr/>
          </p:nvSpPr>
          <p:spPr>
            <a:xfrm>
              <a:off x="0" y="-152400"/>
              <a:ext cx="2183086" cy="656683"/>
            </a:xfrm>
            <a:prstGeom prst="rect">
              <a:avLst/>
            </a:prstGeom>
          </p:spPr>
          <p:txBody>
            <a:bodyPr lIns="0" tIns="0" rIns="0" bIns="0" rtlCol="0" anchor="t">
              <a:spAutoFit/>
            </a:bodyPr>
            <a:lstStyle/>
            <a:p>
              <a:pPr algn="l">
                <a:lnSpc>
                  <a:spcPts val="4071"/>
                </a:lnSpc>
              </a:pPr>
              <a:r>
                <a:rPr lang="en-US" sz="2499" b="1" u="sng" dirty="0">
                  <a:solidFill>
                    <a:srgbClr val="161613"/>
                  </a:solidFill>
                  <a:latin typeface="Calibri (MS) Bold"/>
                  <a:ea typeface="Calibri (MS) Bold"/>
                  <a:cs typeface="Calibri (MS) Bold"/>
                  <a:sym typeface="Calibri (MS) Bold"/>
                </a:rPr>
                <a:t>Conclusion</a:t>
              </a:r>
              <a:r>
                <a:rPr lang="en-US" sz="2499" b="1" dirty="0">
                  <a:solidFill>
                    <a:srgbClr val="161613"/>
                  </a:solidFill>
                  <a:latin typeface="Calibri (MS) Bold"/>
                  <a:ea typeface="Calibri (MS) Bold"/>
                  <a:cs typeface="Calibri (MS) Bold"/>
                  <a:sym typeface="Calibri (MS) Bold"/>
                </a:rPr>
                <a:t>:</a:t>
              </a:r>
            </a:p>
          </p:txBody>
        </p:sp>
      </p:grpSp>
      <p:sp>
        <p:nvSpPr>
          <p:cNvPr id="9" name="TextBox 9"/>
          <p:cNvSpPr txBox="1"/>
          <p:nvPr/>
        </p:nvSpPr>
        <p:spPr>
          <a:xfrm>
            <a:off x="1118726" y="5458006"/>
            <a:ext cx="2129643" cy="478914"/>
          </a:xfrm>
          <a:prstGeom prst="rect">
            <a:avLst/>
          </a:prstGeom>
        </p:spPr>
        <p:txBody>
          <a:bodyPr lIns="0" tIns="0" rIns="0" bIns="0" rtlCol="0" anchor="t">
            <a:spAutoFit/>
          </a:bodyPr>
          <a:lstStyle/>
          <a:p>
            <a:pPr algn="l">
              <a:lnSpc>
                <a:spcPts val="4071"/>
              </a:lnSpc>
            </a:pPr>
            <a:r>
              <a:rPr lang="en-US" sz="2499" b="1" u="sng" dirty="0">
                <a:solidFill>
                  <a:srgbClr val="161613"/>
                </a:solidFill>
                <a:latin typeface="Calibri (MS) Bold"/>
                <a:ea typeface="Calibri (MS) Bold"/>
                <a:cs typeface="Calibri (MS) Bold"/>
                <a:sym typeface="Calibri (MS) Bold"/>
              </a:rPr>
              <a:t>Future of ADAS</a:t>
            </a:r>
          </a:p>
        </p:txBody>
      </p:sp>
      <p:sp>
        <p:nvSpPr>
          <p:cNvPr id="10" name="TextBox 10"/>
          <p:cNvSpPr txBox="1"/>
          <p:nvPr/>
        </p:nvSpPr>
        <p:spPr>
          <a:xfrm>
            <a:off x="1118726" y="6106645"/>
            <a:ext cx="16303523" cy="3048199"/>
          </a:xfrm>
          <a:prstGeom prst="rect">
            <a:avLst/>
          </a:prstGeom>
        </p:spPr>
        <p:txBody>
          <a:bodyPr lIns="0" tIns="0" rIns="0" bIns="0" rtlCol="0" anchor="t">
            <a:spAutoFit/>
          </a:bodyPr>
          <a:lstStyle/>
          <a:p>
            <a:pPr marL="539749" lvl="1" indent="-269875" algn="l">
              <a:lnSpc>
                <a:spcPts val="4049"/>
              </a:lnSpc>
              <a:buFont typeface="Arial"/>
              <a:buChar char="•"/>
            </a:pPr>
            <a:r>
              <a:rPr lang="en-US" sz="2499">
                <a:solidFill>
                  <a:srgbClr val="161613"/>
                </a:solidFill>
                <a:latin typeface="Calibri (MS)"/>
                <a:ea typeface="Calibri (MS)"/>
                <a:cs typeface="Calibri (MS)"/>
                <a:sym typeface="Calibri (MS)"/>
              </a:rPr>
              <a:t>Greater use of AI and machine learning for better object detection and decision-making as AI increasingly finds its way in ADAS.</a:t>
            </a:r>
          </a:p>
          <a:p>
            <a:pPr marL="539749" lvl="1" indent="-269875" algn="l">
              <a:lnSpc>
                <a:spcPts val="4049"/>
              </a:lnSpc>
              <a:buFont typeface="Arial"/>
              <a:buChar char="•"/>
            </a:pPr>
            <a:r>
              <a:rPr lang="en-US" sz="2499">
                <a:solidFill>
                  <a:srgbClr val="161613"/>
                </a:solidFill>
                <a:latin typeface="Calibri (MS)"/>
                <a:ea typeface="Calibri (MS)"/>
                <a:cs typeface="Calibri (MS)"/>
                <a:sym typeface="Calibri (MS)"/>
              </a:rPr>
              <a:t>Expansion of connected vehicle technologies (V2V and V2I communication) for better networking.</a:t>
            </a:r>
          </a:p>
          <a:p>
            <a:pPr marL="539749" lvl="1" indent="-269875" algn="l">
              <a:lnSpc>
                <a:spcPts val="4049"/>
              </a:lnSpc>
              <a:buFont typeface="Arial"/>
              <a:buChar char="•"/>
            </a:pPr>
            <a:r>
              <a:rPr lang="en-US" sz="2499">
                <a:solidFill>
                  <a:srgbClr val="161613"/>
                </a:solidFill>
                <a:latin typeface="Calibri (MS)"/>
                <a:ea typeface="Calibri (MS)"/>
                <a:cs typeface="Calibri (MS)"/>
                <a:sym typeface="Calibri (MS)"/>
              </a:rPr>
              <a:t>More advanced sensor fusion using radar, cameras, and LiDAR.</a:t>
            </a:r>
          </a:p>
          <a:p>
            <a:pPr marL="539749" lvl="1" indent="-269875" algn="l">
              <a:lnSpc>
                <a:spcPts val="4049"/>
              </a:lnSpc>
              <a:buFont typeface="Arial"/>
              <a:buChar char="•"/>
            </a:pPr>
            <a:r>
              <a:rPr lang="en-US" sz="2499">
                <a:solidFill>
                  <a:srgbClr val="161613"/>
                </a:solidFill>
                <a:latin typeface="Calibri (MS)"/>
                <a:ea typeface="Calibri (MS)"/>
                <a:cs typeface="Calibri (MS)"/>
                <a:sym typeface="Calibri (MS)"/>
              </a:rPr>
              <a:t>Gradual transition toward higher levels of vehicle automation and self-driving cars and one day completely realize a self-driving cars without much restrictions.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9F8F5"/>
            </a:solidFill>
          </p:spPr>
        </p:sp>
      </p:grpSp>
      <p:sp>
        <p:nvSpPr>
          <p:cNvPr id="4" name="TextBox 4"/>
          <p:cNvSpPr txBox="1"/>
          <p:nvPr/>
        </p:nvSpPr>
        <p:spPr>
          <a:xfrm>
            <a:off x="17460227" y="9929350"/>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272728">
                    <a:alpha val="47843"/>
                  </a:srgbClr>
                </a:solidFill>
                <a:latin typeface="Canva Sans"/>
                <a:ea typeface="Canva Sans"/>
                <a:cs typeface="Canva Sans"/>
                <a:sym typeface="Canva Sans"/>
              </a:rPr>
              <a:t>Page 15</a:t>
            </a:r>
          </a:p>
        </p:txBody>
      </p:sp>
      <p:sp>
        <p:nvSpPr>
          <p:cNvPr id="5" name="TextBox 5"/>
          <p:cNvSpPr txBox="1"/>
          <p:nvPr/>
        </p:nvSpPr>
        <p:spPr>
          <a:xfrm>
            <a:off x="3168972" y="134708"/>
            <a:ext cx="11859882" cy="893992"/>
          </a:xfrm>
          <a:prstGeom prst="rect">
            <a:avLst/>
          </a:prstGeom>
        </p:spPr>
        <p:txBody>
          <a:bodyPr lIns="0" tIns="0" rIns="0" bIns="0" rtlCol="0" anchor="t">
            <a:spAutoFit/>
          </a:bodyPr>
          <a:lstStyle/>
          <a:p>
            <a:pPr algn="ctr">
              <a:lnSpc>
                <a:spcPts val="6235"/>
              </a:lnSpc>
            </a:pPr>
            <a:r>
              <a:rPr lang="en-US" sz="5000" b="1">
                <a:solidFill>
                  <a:srgbClr val="161613"/>
                </a:solidFill>
                <a:latin typeface="Calibri (MS) Bold"/>
                <a:ea typeface="Calibri (MS) Bold"/>
                <a:cs typeface="Calibri (MS) Bold"/>
                <a:sym typeface="Calibri (MS) Bold"/>
              </a:rPr>
              <a:t>References</a:t>
            </a:r>
          </a:p>
        </p:txBody>
      </p:sp>
      <p:grpSp>
        <p:nvGrpSpPr>
          <p:cNvPr id="6" name="Group 6"/>
          <p:cNvGrpSpPr/>
          <p:nvPr/>
        </p:nvGrpSpPr>
        <p:grpSpPr>
          <a:xfrm>
            <a:off x="1087065" y="1802622"/>
            <a:ext cx="16113869" cy="6681755"/>
            <a:chOff x="0" y="-152400"/>
            <a:chExt cx="21485158" cy="8909007"/>
          </a:xfrm>
        </p:grpSpPr>
        <p:sp>
          <p:nvSpPr>
            <p:cNvPr id="7" name="TextBox 7"/>
            <p:cNvSpPr txBox="1"/>
            <p:nvPr/>
          </p:nvSpPr>
          <p:spPr>
            <a:xfrm>
              <a:off x="0" y="-152400"/>
              <a:ext cx="21485158" cy="656683"/>
            </a:xfrm>
            <a:prstGeom prst="rect">
              <a:avLst/>
            </a:prstGeom>
          </p:spPr>
          <p:txBody>
            <a:bodyPr lIns="0" tIns="0" rIns="0" bIns="0" rtlCol="0" anchor="t">
              <a:spAutoFit/>
            </a:bodyPr>
            <a:lstStyle/>
            <a:p>
              <a:pPr marL="539749" lvl="1" indent="-269875" algn="l">
                <a:lnSpc>
                  <a:spcPts val="4071"/>
                </a:lnSpc>
                <a:buFont typeface="Arial"/>
                <a:buChar char="•"/>
              </a:pPr>
              <a:r>
                <a:rPr lang="en-US" sz="2499" b="1" dirty="0">
                  <a:solidFill>
                    <a:srgbClr val="161613"/>
                  </a:solidFill>
                  <a:latin typeface="Calibri (MS) Bold"/>
                  <a:ea typeface="Calibri (MS) Bold"/>
                  <a:cs typeface="Calibri (MS) Bold"/>
                  <a:sym typeface="Calibri (MS) Bold"/>
                </a:rPr>
                <a:t>YouTube - ADAS | Every ADAS Level Explained</a:t>
              </a:r>
              <a:r>
                <a:rPr lang="en-US" sz="2499" dirty="0">
                  <a:solidFill>
                    <a:srgbClr val="161613"/>
                  </a:solidFill>
                  <a:latin typeface="Calibri (MS)"/>
                  <a:ea typeface="Calibri (MS)"/>
                  <a:cs typeface="Calibri (MS)"/>
                  <a:sym typeface="Calibri (MS)"/>
                </a:rPr>
                <a:t>: </a:t>
              </a:r>
              <a:r>
                <a:rPr lang="en-US" sz="2499" u="sng" dirty="0">
                  <a:solidFill>
                    <a:srgbClr val="161613"/>
                  </a:solidFill>
                  <a:latin typeface="Calibri (MS)"/>
                  <a:ea typeface="Calibri (MS)"/>
                  <a:cs typeface="Calibri (MS)"/>
                  <a:sym typeface="Calibri (MS)"/>
                  <a:hlinkClick r:id="rId2" tooltip="https://www.youtube.com/watch?v=EiWl5PAtfYA"/>
                </a:rPr>
                <a:t>https://www.youtube.com/watch?v=EiWl5PAtfYA</a:t>
              </a:r>
            </a:p>
          </p:txBody>
        </p:sp>
        <p:sp>
          <p:nvSpPr>
            <p:cNvPr id="8" name="TextBox 8"/>
            <p:cNvSpPr txBox="1"/>
            <p:nvPr/>
          </p:nvSpPr>
          <p:spPr>
            <a:xfrm>
              <a:off x="0" y="1905563"/>
              <a:ext cx="21485158" cy="656683"/>
            </a:xfrm>
            <a:prstGeom prst="rect">
              <a:avLst/>
            </a:prstGeom>
          </p:spPr>
          <p:txBody>
            <a:bodyPr lIns="0" tIns="0" rIns="0" bIns="0" rtlCol="0" anchor="t">
              <a:spAutoFit/>
            </a:bodyPr>
            <a:lstStyle/>
            <a:p>
              <a:pPr marL="539749" lvl="1" indent="-269875" algn="l">
                <a:lnSpc>
                  <a:spcPts val="4071"/>
                </a:lnSpc>
                <a:buFont typeface="Arial"/>
                <a:buChar char="•"/>
              </a:pPr>
              <a:r>
                <a:rPr lang="en-US" sz="2499" b="1">
                  <a:solidFill>
                    <a:srgbClr val="161613"/>
                  </a:solidFill>
                  <a:latin typeface="Calibri (MS) Bold"/>
                  <a:ea typeface="Calibri (MS) Bold"/>
                  <a:cs typeface="Calibri (MS) Bold"/>
                  <a:sym typeface="Calibri (MS) Bold"/>
                </a:rPr>
                <a:t>What is ADAS? Ansys</a:t>
              </a:r>
              <a:r>
                <a:rPr lang="en-US" sz="2499">
                  <a:solidFill>
                    <a:srgbClr val="161613"/>
                  </a:solidFill>
                  <a:latin typeface="Calibri (MS)"/>
                  <a:ea typeface="Calibri (MS)"/>
                  <a:cs typeface="Calibri (MS)"/>
                  <a:sym typeface="Calibri (MS)"/>
                </a:rPr>
                <a:t>: </a:t>
              </a:r>
              <a:r>
                <a:rPr lang="en-US" sz="2499" u="sng">
                  <a:solidFill>
                    <a:srgbClr val="161613"/>
                  </a:solidFill>
                  <a:latin typeface="Calibri (MS)"/>
                  <a:ea typeface="Calibri (MS)"/>
                  <a:cs typeface="Calibri (MS)"/>
                  <a:sym typeface="Calibri (MS)"/>
                  <a:hlinkClick r:id="rId3" tooltip="https://www.ansys.com/simulation-topics/what-is-advanced-driver-assistance-system-adas"/>
                </a:rPr>
                <a:t>https://www.ansys.com/simulation-topics/what-is-advanced-driver-assistance-system-adas</a:t>
              </a:r>
            </a:p>
          </p:txBody>
        </p:sp>
        <p:sp>
          <p:nvSpPr>
            <p:cNvPr id="9" name="TextBox 9"/>
            <p:cNvSpPr txBox="1"/>
            <p:nvPr/>
          </p:nvSpPr>
          <p:spPr>
            <a:xfrm>
              <a:off x="0" y="3963527"/>
              <a:ext cx="21485158" cy="656683"/>
            </a:xfrm>
            <a:prstGeom prst="rect">
              <a:avLst/>
            </a:prstGeom>
          </p:spPr>
          <p:txBody>
            <a:bodyPr lIns="0" tIns="0" rIns="0" bIns="0" rtlCol="0" anchor="t">
              <a:spAutoFit/>
            </a:bodyPr>
            <a:lstStyle/>
            <a:p>
              <a:pPr marL="539749" lvl="1" indent="-269875" algn="l">
                <a:lnSpc>
                  <a:spcPts val="4071"/>
                </a:lnSpc>
                <a:buFont typeface="Arial"/>
                <a:buChar char="•"/>
              </a:pPr>
              <a:r>
                <a:rPr lang="en-US" sz="2499" b="1" dirty="0">
                  <a:solidFill>
                    <a:srgbClr val="161613"/>
                  </a:solidFill>
                  <a:latin typeface="Calibri (MS) Bold"/>
                  <a:ea typeface="Calibri (MS) Bold"/>
                  <a:cs typeface="Calibri (MS) Bold"/>
                  <a:sym typeface="Calibri (MS) Bold"/>
                </a:rPr>
                <a:t>Wikipedia</a:t>
              </a:r>
              <a:r>
                <a:rPr lang="en-US" sz="2499" dirty="0">
                  <a:solidFill>
                    <a:srgbClr val="161613"/>
                  </a:solidFill>
                  <a:latin typeface="Calibri (MS)"/>
                  <a:ea typeface="Calibri (MS)"/>
                  <a:cs typeface="Calibri (MS)"/>
                  <a:sym typeface="Calibri (MS)"/>
                </a:rPr>
                <a:t>: </a:t>
              </a:r>
              <a:r>
                <a:rPr lang="en-US" sz="2499" u="sng" dirty="0">
                  <a:solidFill>
                    <a:srgbClr val="161613"/>
                  </a:solidFill>
                  <a:latin typeface="Calibri (MS)"/>
                  <a:ea typeface="Calibri (MS)"/>
                  <a:cs typeface="Calibri (MS)"/>
                  <a:sym typeface="Calibri (MS)"/>
                  <a:hlinkClick r:id="rId4" tooltip="https://en.wikipedia.org/wiki/Advanced_driver-assistance_system"/>
                </a:rPr>
                <a:t>https://en.wikipedia.org/wiki/Advanced_driver-assistance_system</a:t>
              </a:r>
            </a:p>
          </p:txBody>
        </p:sp>
        <p:sp>
          <p:nvSpPr>
            <p:cNvPr id="10" name="TextBox 10"/>
            <p:cNvSpPr txBox="1"/>
            <p:nvPr/>
          </p:nvSpPr>
          <p:spPr>
            <a:xfrm>
              <a:off x="0" y="6017210"/>
              <a:ext cx="21485158" cy="1342395"/>
            </a:xfrm>
            <a:prstGeom prst="rect">
              <a:avLst/>
            </a:prstGeom>
          </p:spPr>
          <p:txBody>
            <a:bodyPr lIns="0" tIns="0" rIns="0" bIns="0" rtlCol="0" anchor="t">
              <a:spAutoFit/>
            </a:bodyPr>
            <a:lstStyle/>
            <a:p>
              <a:pPr marL="539749" lvl="1" indent="-269875" algn="l">
                <a:lnSpc>
                  <a:spcPts val="4071"/>
                </a:lnSpc>
                <a:buFont typeface="Arial"/>
                <a:buChar char="•"/>
              </a:pPr>
              <a:r>
                <a:rPr lang="en-US" sz="2499" b="1">
                  <a:solidFill>
                    <a:srgbClr val="161613"/>
                  </a:solidFill>
                  <a:latin typeface="Calibri (MS) Bold"/>
                  <a:ea typeface="Calibri (MS) Bold"/>
                  <a:cs typeface="Calibri (MS) Bold"/>
                  <a:sym typeface="Calibri (MS) Bold"/>
                </a:rPr>
                <a:t>Mercedes S-Class Features</a:t>
              </a:r>
              <a:r>
                <a:rPr lang="en-US" sz="2499">
                  <a:solidFill>
                    <a:srgbClr val="161613"/>
                  </a:solidFill>
                  <a:latin typeface="Calibri (MS)"/>
                  <a:ea typeface="Calibri (MS)"/>
                  <a:cs typeface="Calibri (MS)"/>
                  <a:sym typeface="Calibri (MS)"/>
                </a:rPr>
                <a:t>: </a:t>
              </a:r>
              <a:r>
                <a:rPr lang="en-US" sz="2499" u="sng">
                  <a:solidFill>
                    <a:srgbClr val="161613"/>
                  </a:solidFill>
                  <a:latin typeface="Calibri (MS)"/>
                  <a:ea typeface="Calibri (MS)"/>
                  <a:cs typeface="Calibri (MS)"/>
                  <a:sym typeface="Calibri (MS)"/>
                  <a:hlinkClick r:id="rId5" tooltip="https://www.mercedes-benz.co.in/passengercars/models/saloon-long/s-class/overview.html"/>
                </a:rPr>
                <a:t>https://www.mercedes-benz.co.in/passengercars/models/saloon-long/s-class/overview.html</a:t>
              </a:r>
            </a:p>
          </p:txBody>
        </p:sp>
        <p:sp>
          <p:nvSpPr>
            <p:cNvPr id="11" name="TextBox 11"/>
            <p:cNvSpPr txBox="1"/>
            <p:nvPr/>
          </p:nvSpPr>
          <p:spPr>
            <a:xfrm>
              <a:off x="0" y="8099924"/>
              <a:ext cx="21485158" cy="656683"/>
            </a:xfrm>
            <a:prstGeom prst="rect">
              <a:avLst/>
            </a:prstGeom>
          </p:spPr>
          <p:txBody>
            <a:bodyPr lIns="0" tIns="0" rIns="0" bIns="0" rtlCol="0" anchor="t">
              <a:spAutoFit/>
            </a:bodyPr>
            <a:lstStyle/>
            <a:p>
              <a:pPr marL="539749" lvl="1" indent="-269875" algn="l">
                <a:lnSpc>
                  <a:spcPts val="4071"/>
                </a:lnSpc>
                <a:buFont typeface="Arial"/>
                <a:buChar char="•"/>
              </a:pPr>
              <a:r>
                <a:rPr lang="en-US" sz="2499" b="1" dirty="0">
                  <a:solidFill>
                    <a:srgbClr val="161613"/>
                  </a:solidFill>
                  <a:latin typeface="Calibri (MS) Bold"/>
                  <a:ea typeface="Calibri (MS) Bold"/>
                  <a:cs typeface="Calibri (MS) Bold"/>
                  <a:sym typeface="Calibri (MS) Bold"/>
                </a:rPr>
                <a:t>BMW 7 Series Features</a:t>
              </a:r>
              <a:r>
                <a:rPr lang="en-US" sz="2499" dirty="0">
                  <a:solidFill>
                    <a:srgbClr val="161613"/>
                  </a:solidFill>
                  <a:latin typeface="Calibri (MS)"/>
                  <a:ea typeface="Calibri (MS)"/>
                  <a:cs typeface="Calibri (MS)"/>
                  <a:sym typeface="Calibri (MS)"/>
                </a:rPr>
                <a:t>: </a:t>
              </a:r>
              <a:r>
                <a:rPr lang="en-US" sz="2499" u="sng" dirty="0">
                  <a:solidFill>
                    <a:srgbClr val="161613"/>
                  </a:solidFill>
                  <a:latin typeface="Calibri (MS)"/>
                  <a:ea typeface="Calibri (MS)"/>
                  <a:cs typeface="Calibri (MS)"/>
                  <a:sym typeface="Calibri (MS)"/>
                  <a:hlinkClick r:id="rId6" tooltip="https://www.bmw.in/en/all-models/7-series/7-series-sedan/bmw-7-series-sedan.html"/>
                </a:rPr>
                <a:t>https://www.bmw.in/en/all-models/7-series/7-series-sedan/bmw-7-series-sedan.html</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TextBox 3"/>
          <p:cNvSpPr txBox="1"/>
          <p:nvPr/>
        </p:nvSpPr>
        <p:spPr>
          <a:xfrm>
            <a:off x="17460227" y="9929350"/>
            <a:ext cx="152400" cy="180975"/>
          </a:xfrm>
          <a:prstGeom prst="rect">
            <a:avLst/>
          </a:prstGeom>
        </p:spPr>
        <p:txBody>
          <a:bodyPr wrap="none" lIns="0" tIns="0" rIns="0" bIns="0" rtlCol="0" anchor="t">
            <a:spAutoFit/>
          </a:bodyPr>
          <a:lstStyle/>
          <a:p>
            <a:pPr algn="ctr">
              <a:lnSpc>
                <a:spcPts val="2100"/>
              </a:lnSpc>
              <a:spcBef>
                <a:spcPct val="0"/>
              </a:spcBef>
            </a:pPr>
            <a:r>
              <a:rPr lang="en-US" sz="1500">
                <a:solidFill>
                  <a:srgbClr val="272728">
                    <a:alpha val="47843"/>
                  </a:srgbClr>
                </a:solidFill>
                <a:latin typeface="Canva Sans"/>
                <a:ea typeface="Canva Sans"/>
                <a:cs typeface="Canva Sans"/>
                <a:sym typeface="Canva Sans"/>
              </a:rPr>
              <a:t>Page 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505</TotalTime>
  <Words>2035</Words>
  <Application>Microsoft Office PowerPoint</Application>
  <PresentationFormat>Custom</PresentationFormat>
  <Paragraphs>183</Paragraphs>
  <Slides>16</Slides>
  <Notes>9</Notes>
  <HiddenSlides>0</HiddenSlides>
  <MMClips>2</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Calibri (MS)</vt:lpstr>
      <vt:lpstr>Calibri</vt:lpstr>
      <vt:lpstr>Arial</vt:lpstr>
      <vt:lpstr>Canva Sans</vt:lpstr>
      <vt:lpstr>Calibri (MS)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ADAS</dc:title>
  <cp:lastModifiedBy>Jaisurya Vetrivel</cp:lastModifiedBy>
  <cp:revision>6</cp:revision>
  <dcterms:created xsi:type="dcterms:W3CDTF">2006-08-16T00:00:00Z</dcterms:created>
  <dcterms:modified xsi:type="dcterms:W3CDTF">2026-03-17T08:33:04Z</dcterms:modified>
  <dc:identifier>DAHEIycC9zQ</dc:identifier>
</cp:coreProperties>
</file>